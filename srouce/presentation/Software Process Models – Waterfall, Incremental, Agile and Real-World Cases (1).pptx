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IBM Plex Sans"/>
      <p:regular r:id="rId32"/>
      <p:bold r:id="rId33"/>
      <p:italic r:id="rId34"/>
      <p:boldItalic r:id="rId35"/>
    </p:embeddedFont>
    <p:embeddedFont>
      <p:font typeface="IBM Plex Sans Medium"/>
      <p:regular r:id="rId36"/>
      <p:bold r:id="rId37"/>
      <p:italic r:id="rId38"/>
      <p:boldItalic r:id="rId39"/>
    </p:embeddedFont>
    <p:embeddedFont>
      <p:font typeface="Space Grotesk"/>
      <p:regular r:id="rId40"/>
      <p:bold r:id="rId41"/>
    </p:embeddedFont>
    <p:embeddedFont>
      <p:font typeface="IBM Plex Sans SemiBold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EA00E4-D969-412F-AA78-75B5C6E0122F}">
  <a:tblStyle styleId="{39EA00E4-D969-412F-AA78-75B5C6E012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aceGrotesk-regular.fntdata"/><Relationship Id="rId20" Type="http://schemas.openxmlformats.org/officeDocument/2006/relationships/slide" Target="slides/slide14.xml"/><Relationship Id="rId42" Type="http://schemas.openxmlformats.org/officeDocument/2006/relationships/font" Target="fonts/IBMPlexSansSemiBold-regular.fntdata"/><Relationship Id="rId41" Type="http://schemas.openxmlformats.org/officeDocument/2006/relationships/font" Target="fonts/SpaceGrotesk-bold.fntdata"/><Relationship Id="rId22" Type="http://schemas.openxmlformats.org/officeDocument/2006/relationships/slide" Target="slides/slide16.xml"/><Relationship Id="rId44" Type="http://schemas.openxmlformats.org/officeDocument/2006/relationships/font" Target="fonts/IBMPlexSansSemiBold-italic.fntdata"/><Relationship Id="rId21" Type="http://schemas.openxmlformats.org/officeDocument/2006/relationships/slide" Target="slides/slide15.xml"/><Relationship Id="rId43" Type="http://schemas.openxmlformats.org/officeDocument/2006/relationships/font" Target="fonts/IBMPlexSansSemiBold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IBMPlexSans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IBMPlexSans-bold.fntdata"/><Relationship Id="rId10" Type="http://schemas.openxmlformats.org/officeDocument/2006/relationships/slide" Target="slides/slide4.xml"/><Relationship Id="rId32" Type="http://schemas.openxmlformats.org/officeDocument/2006/relationships/font" Target="fonts/IBMPlexSans-regular.fntdata"/><Relationship Id="rId13" Type="http://schemas.openxmlformats.org/officeDocument/2006/relationships/slide" Target="slides/slide7.xml"/><Relationship Id="rId35" Type="http://schemas.openxmlformats.org/officeDocument/2006/relationships/font" Target="fonts/IBMPlexSans-boldItalic.fntdata"/><Relationship Id="rId12" Type="http://schemas.openxmlformats.org/officeDocument/2006/relationships/slide" Target="slides/slide6.xml"/><Relationship Id="rId34" Type="http://schemas.openxmlformats.org/officeDocument/2006/relationships/font" Target="fonts/IBMPlexSans-italic.fntdata"/><Relationship Id="rId15" Type="http://schemas.openxmlformats.org/officeDocument/2006/relationships/slide" Target="slides/slide9.xml"/><Relationship Id="rId37" Type="http://schemas.openxmlformats.org/officeDocument/2006/relationships/font" Target="fonts/IBMPlexSansMedium-bold.fntdata"/><Relationship Id="rId14" Type="http://schemas.openxmlformats.org/officeDocument/2006/relationships/slide" Target="slides/slide8.xml"/><Relationship Id="rId36" Type="http://schemas.openxmlformats.org/officeDocument/2006/relationships/font" Target="fonts/IBMPlexSansMedium-regular.fntdata"/><Relationship Id="rId17" Type="http://schemas.openxmlformats.org/officeDocument/2006/relationships/slide" Target="slides/slide11.xml"/><Relationship Id="rId39" Type="http://schemas.openxmlformats.org/officeDocument/2006/relationships/font" Target="fonts/IBMPlexSans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IBMPlexSans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lxslide_export_mvck1b0f_24b43dcd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lxslide_export_mvck1b0f_24b43dcd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lxslide_export_mvck1b0f_24b43dcd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plxslide_export_mvck1b0f_24b43dcd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lxslide_export_mvck1b0f_24b43dcd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lxslide_export_mvck1b0f_24b43dcd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lxslide_export_mvck1b0f_24b43dcd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plxslide_export_mvck1b0f_24b43dcd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lxslide_export_mvck1b0f_24b43dcd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plxslide_export_mvck1b0f_24b43dcd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lxslide_export_mvck1b0f_24b43dcd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plxslide_export_mvck1b0f_24b43dcd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lxslide_export_mvck1b0f_24b43dcd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plxslide_export_mvck1b0f_24b43dcd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lxslide_export_mvck1b0f_24b43dcd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plxslide_export_mvck1b0f_24b43dcd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lxslide_export_mvck1b0f_24b43dcd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plxslide_export_mvck1b0f_24b43dcd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lxslide_export_mvck1b0f_24b43dcd_b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plxslide_export_mvck1b0f_24b43dcd_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lxslide_export_mvck1b0f_24b43dcd_c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plxslide_export_mvck1b0f_24b43dcd_c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lxslide_export_mvck1b0f_24b43dcd_d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plxslide_export_mvck1b0f_24b43dcd_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lxslide_export_mvck1b0f_24b43dcd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plxslide_export_mvck1b0f_24b43dcd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lxslide_export_mvck1b0f_24b43dcd_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plxslide_export_mvck1b0f_24b43dcd_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lxslide_export_mvck1b0f_24b43dcd_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plxslide_export_mvck1b0f_24b43dcd_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lxslide_export_mvck1b0f_24b43dcd_g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plxslide_export_mvck1b0f_24b43dcd_g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lxslide_export_mvck1b0f_24b43dcd_h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plxslide_export_mvck1b0f_24b43dcd_h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lxslide_export_mvck1b0f_24b43dcd_i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plxslide_export_mvck1b0f_24b43dcd_i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lxslide_export_mvck1b0f_24b43dcd_j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plxslide_export_mvck1b0f_24b43dcd_j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lxslide_export_mvck1b0f_24b43dcd_a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plxslide_export_mvck1b0f_24b43dcd_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lxslide_export_mvck1b0f_24b43dcd_k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plxslide_export_mvck1b0f_24b43dcd_k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lxslide_export_mvck1b0f_24b43dcd_l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plxslide_export_mvck1b0f_24b43dcd_l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lxslide_export_mvck1b0f_24b43dcd_m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plxslide_export_mvck1b0f_24b43dcd_m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lxslide_export_mvck1b0f_24b43dcd_n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plxslide_export_mvck1b0f_24b43dcd_n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lxslide_export_mvck1b0f_24b43dcd_o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plxslide_export_mvck1b0f_24b43dcd_o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Relationship Id="rId4" Type="http://schemas.openxmlformats.org/officeDocument/2006/relationships/image" Target="../media/image11.png"/><Relationship Id="rId5" Type="http://schemas.openxmlformats.org/officeDocument/2006/relationships/image" Target="../media/image3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8.pn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33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47.png"/><Relationship Id="rId5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3.png"/><Relationship Id="rId4" Type="http://schemas.openxmlformats.org/officeDocument/2006/relationships/image" Target="../media/image45.png"/><Relationship Id="rId5" Type="http://schemas.openxmlformats.org/officeDocument/2006/relationships/image" Target="../media/image42.png"/><Relationship Id="rId6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Relationship Id="rId10" Type="http://schemas.openxmlformats.org/officeDocument/2006/relationships/image" Target="../media/image30.png"/><Relationship Id="rId9" Type="http://schemas.openxmlformats.org/officeDocument/2006/relationships/image" Target="../media/image37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4.png"/><Relationship Id="rId4" Type="http://schemas.openxmlformats.org/officeDocument/2006/relationships/image" Target="../media/image4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35.png"/><Relationship Id="rId6" Type="http://schemas.openxmlformats.org/officeDocument/2006/relationships/image" Target="../media/image4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65760" y="408051"/>
            <a:ext cx="22677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BLA_02 · SOFTWARE ENGINEERING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65760" y="1452329"/>
            <a:ext cx="3904800" cy="1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6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Software</a:t>
            </a:r>
            <a:endParaRPr b="1" sz="346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8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6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Process Models</a:t>
            </a:r>
            <a:endParaRPr b="1" sz="346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457200" y="2599432"/>
            <a:ext cx="514500" cy="0"/>
          </a:xfrm>
          <a:prstGeom prst="straightConnector1">
            <a:avLst/>
          </a:prstGeom>
          <a:noFill/>
          <a:ln cap="flat" cmpd="sng" w="216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365760" y="2711410"/>
            <a:ext cx="37776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9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From Waterfall to agile, and how Netflix and Riot</a:t>
            </a:r>
            <a:endParaRPr sz="119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9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Games choose their processes.</a:t>
            </a:r>
            <a:endParaRPr sz="119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58" name="Google Shape;58;p13"/>
          <p:cNvGrpSpPr/>
          <p:nvPr/>
        </p:nvGrpSpPr>
        <p:grpSpPr>
          <a:xfrm>
            <a:off x="365760" y="4102857"/>
            <a:ext cx="3840600" cy="629064"/>
            <a:chOff x="365760" y="4102857"/>
            <a:chExt cx="3840600" cy="629064"/>
          </a:xfrm>
        </p:grpSpPr>
        <p:cxnSp>
          <p:nvCxnSpPr>
            <p:cNvPr id="59" name="Google Shape;59;p13"/>
            <p:cNvCxnSpPr/>
            <p:nvPr/>
          </p:nvCxnSpPr>
          <p:spPr>
            <a:xfrm>
              <a:off x="457200" y="4102857"/>
              <a:ext cx="3657600" cy="0"/>
            </a:xfrm>
            <a:prstGeom prst="straightConnector1">
              <a:avLst/>
            </a:prstGeom>
            <a:noFill/>
            <a:ln cap="flat" cmpd="sng" w="7625">
              <a:solidFill>
                <a:srgbClr val="2F3A4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" name="Google Shape;60;p13"/>
            <p:cNvSpPr txBox="1"/>
            <p:nvPr/>
          </p:nvSpPr>
          <p:spPr>
            <a:xfrm>
              <a:off x="365760" y="4160721"/>
              <a:ext cx="3840600" cy="5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2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60">
                  <a:solidFill>
                    <a:srgbClr val="1F6F5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Models:</a:t>
              </a:r>
              <a:r>
                <a:rPr lang="en" sz="76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Waterfall · Incremental · Integration and configuration · Plan-driven · Agile</a:t>
              </a:r>
              <a:endParaRPr sz="76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2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60">
                  <a:solidFill>
                    <a:srgbClr val="1F6F5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Cases:</a:t>
              </a:r>
              <a:r>
                <a:rPr lang="en" sz="76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Netflix streaming platform · League of Legends</a:t>
              </a:r>
              <a:endParaRPr sz="76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85750"/>
            <a:ext cx="4572001" cy="45720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457200" y="3296925"/>
            <a:ext cx="147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Truong Phat Tu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57200" y="3699900"/>
            <a:ext cx="368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Master of Computer Science in Concordia University Chicago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4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4"/>
          <p:cNvSpPr txBox="1"/>
          <p:nvPr/>
        </p:nvSpPr>
        <p:spPr>
          <a:xfrm>
            <a:off x="365760" y="408051"/>
            <a:ext cx="5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815816" y="243459"/>
            <a:ext cx="40599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is a software process?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65760" y="834939"/>
            <a:ext cx="8817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DEFINITION</a:t>
            </a:r>
            <a:endParaRPr b="1" sz="65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365760" y="1045384"/>
            <a:ext cx="4119300" cy="12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6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40">
                <a:solidFill>
                  <a:srgbClr val="1F252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 </a:t>
            </a:r>
            <a:r>
              <a:rPr lang="en" sz="1840">
                <a:solidFill>
                  <a:srgbClr val="1F6F5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structured set of activities</a:t>
            </a:r>
            <a:endParaRPr sz="1840">
              <a:solidFill>
                <a:srgbClr val="1F6F5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96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40">
                <a:solidFill>
                  <a:srgbClr val="1F252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required to develop a software</a:t>
            </a:r>
            <a:endParaRPr sz="1840">
              <a:solidFill>
                <a:srgbClr val="1F2528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96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40">
                <a:solidFill>
                  <a:srgbClr val="1F252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system, together with the order in</a:t>
            </a:r>
            <a:endParaRPr sz="1840">
              <a:solidFill>
                <a:srgbClr val="1F2528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96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40">
                <a:solidFill>
                  <a:srgbClr val="1F252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which they happen.</a:t>
            </a:r>
            <a:endParaRPr sz="1840">
              <a:solidFill>
                <a:srgbClr val="1F2528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365760" y="2323651"/>
            <a:ext cx="40599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Typical activities include specifying a data model or designing a user</a:t>
            </a:r>
            <a:endParaRPr sz="92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interface.</a:t>
            </a:r>
            <a:endParaRPr sz="92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4" name="Google Shape;74;p14"/>
          <p:cNvGrpSpPr/>
          <p:nvPr/>
        </p:nvGrpSpPr>
        <p:grpSpPr>
          <a:xfrm>
            <a:off x="467916" y="4132034"/>
            <a:ext cx="4211863" cy="471300"/>
            <a:chOff x="467916" y="4132034"/>
            <a:chExt cx="4211863" cy="471300"/>
          </a:xfrm>
        </p:grpSpPr>
        <p:cxnSp>
          <p:nvCxnSpPr>
            <p:cNvPr id="75" name="Google Shape;75;p14"/>
            <p:cNvCxnSpPr/>
            <p:nvPr/>
          </p:nvCxnSpPr>
          <p:spPr>
            <a:xfrm>
              <a:off x="467916" y="4149179"/>
              <a:ext cx="0" cy="437100"/>
            </a:xfrm>
            <a:prstGeom prst="straightConnector1">
              <a:avLst/>
            </a:prstGeom>
            <a:noFill/>
            <a:ln cap="flat" cmpd="sng" w="21600">
              <a:solidFill>
                <a:srgbClr val="C2662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" name="Google Shape;76;p14"/>
            <p:cNvSpPr txBox="1"/>
            <p:nvPr/>
          </p:nvSpPr>
          <p:spPr>
            <a:xfrm>
              <a:off x="515779" y="4132034"/>
              <a:ext cx="4164000" cy="47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3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The key is quality control, process control, and management of production, cost and human resources.</a:t>
              </a:r>
              <a:endParaRPr sz="10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77" name="Google Shape;77;p14"/>
          <p:cNvSpPr txBox="1"/>
          <p:nvPr/>
        </p:nvSpPr>
        <p:spPr>
          <a:xfrm>
            <a:off x="4866992" y="834939"/>
            <a:ext cx="33762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AN ORGANIZED PROCESS, NOT ONLY PROGRAMMING?</a:t>
            </a:r>
            <a:endParaRPr b="1" sz="65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78" name="Google Shape;78;p14"/>
          <p:cNvCxnSpPr/>
          <p:nvPr/>
        </p:nvCxnSpPr>
        <p:spPr>
          <a:xfrm>
            <a:off x="4958432" y="1090761"/>
            <a:ext cx="37284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79" name="Google Shape;79;p14" title="Ploxs rendered HTML elemen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8432" y="1551310"/>
            <a:ext cx="242888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5295617" y="1426821"/>
            <a:ext cx="9900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9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Products</a:t>
            </a:r>
            <a:endParaRPr b="1" sz="119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5295617" y="1651028"/>
            <a:ext cx="21060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outcomes of a process activity.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82" name="Google Shape;82;p14"/>
          <p:cNvCxnSpPr/>
          <p:nvPr/>
        </p:nvCxnSpPr>
        <p:spPr>
          <a:xfrm>
            <a:off x="4958432" y="2254746"/>
            <a:ext cx="37284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83" name="Google Shape;83;p14" title="Ploxs rendered HTML elemen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8432" y="2715295"/>
            <a:ext cx="242888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 txBox="1"/>
          <p:nvPr/>
        </p:nvSpPr>
        <p:spPr>
          <a:xfrm>
            <a:off x="5295617" y="2590806"/>
            <a:ext cx="7044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9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Roles</a:t>
            </a:r>
            <a:endParaRPr b="1" sz="119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5295617" y="2815013"/>
            <a:ext cx="3287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responsibilities of the people involved in the process.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86" name="Google Shape;86;p14"/>
          <p:cNvGrpSpPr/>
          <p:nvPr/>
        </p:nvGrpSpPr>
        <p:grpSpPr>
          <a:xfrm>
            <a:off x="4958432" y="3418731"/>
            <a:ext cx="3728400" cy="1163985"/>
            <a:chOff x="4958432" y="3418731"/>
            <a:chExt cx="3728400" cy="1163985"/>
          </a:xfrm>
        </p:grpSpPr>
        <p:cxnSp>
          <p:nvCxnSpPr>
            <p:cNvPr id="87" name="Google Shape;87;p14"/>
            <p:cNvCxnSpPr/>
            <p:nvPr/>
          </p:nvCxnSpPr>
          <p:spPr>
            <a:xfrm>
              <a:off x="4958432" y="3418731"/>
              <a:ext cx="37284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" name="Google Shape;88;p14"/>
            <p:cNvCxnSpPr/>
            <p:nvPr/>
          </p:nvCxnSpPr>
          <p:spPr>
            <a:xfrm>
              <a:off x="4958432" y="4582716"/>
              <a:ext cx="37284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ploxs-render-artifact:v1:{&quot;kind&quot;:&quot;paint-raster&quot;}" id="89" name="Google Shape;89;p14" title="Ploxs rendered HTML elemen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8432" y="3879279"/>
            <a:ext cx="242888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5295617" y="3671968"/>
            <a:ext cx="22260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9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Pre- and post-conditions</a:t>
            </a:r>
            <a:endParaRPr b="1" sz="119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5295617" y="3880530"/>
            <a:ext cx="35697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Statements that are true before and after an activity is carried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out or a product is produced.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92" name="Google Shape;92;p14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93" name="Google Shape;93;p14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4" name="Google Shape;94;p14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BLA_02                                                                               02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Google Shape;99;p15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5"/>
          <p:cNvSpPr txBox="1"/>
          <p:nvPr/>
        </p:nvSpPr>
        <p:spPr>
          <a:xfrm>
            <a:off x="365760" y="408051"/>
            <a:ext cx="9795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 · PART 6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1215866" y="243459"/>
            <a:ext cx="51150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Four fundamental process activities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102" name="Google Shape;102;p15"/>
          <p:cNvCxnSpPr/>
          <p:nvPr/>
        </p:nvCxnSpPr>
        <p:spPr>
          <a:xfrm>
            <a:off x="457200" y="891518"/>
            <a:ext cx="1928700" cy="0"/>
          </a:xfrm>
          <a:prstGeom prst="straightConnector1">
            <a:avLst/>
          </a:prstGeom>
          <a:noFill/>
          <a:ln cap="flat" cmpd="sng" w="292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5"/>
          <p:cNvSpPr txBox="1"/>
          <p:nvPr/>
        </p:nvSpPr>
        <p:spPr>
          <a:xfrm>
            <a:off x="365760" y="956669"/>
            <a:ext cx="372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ploxs-render-artifact:v1:{&quot;kind&quot;:&quot;paint-raster&quot;}" id="104" name="Google Shape;104;p15" title="Ploxs rendered HTML elemen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98699"/>
            <a:ext cx="3143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365760" y="1509595"/>
            <a:ext cx="13365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Specification</a:t>
            </a:r>
            <a:endParaRPr b="1" sz="124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365760" y="1759394"/>
            <a:ext cx="2098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Defines what the system should do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 the constraints it works within.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365760" y="2187483"/>
            <a:ext cx="18981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7325" lvl="0" marL="12827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Clr>
                <a:srgbClr val="1F2528"/>
              </a:buClr>
              <a:buSzPts val="930"/>
              <a:buFont typeface="IBM Plex Sans"/>
              <a:buChar char="●"/>
            </a:pPr>
            <a:r>
              <a:rPr lang="en" sz="9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Feasibility study</a:t>
            </a:r>
            <a:endParaRPr sz="9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7325" lvl="0" marL="12827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Clr>
                <a:srgbClr val="1F2528"/>
              </a:buClr>
              <a:buSzPts val="930"/>
              <a:buFont typeface="IBM Plex Sans"/>
              <a:buChar char="●"/>
            </a:pPr>
            <a:r>
              <a:rPr lang="en" sz="9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Elicitation and analysis</a:t>
            </a:r>
            <a:endParaRPr sz="9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7325" lvl="0" marL="12827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Clr>
                <a:srgbClr val="1F2528"/>
              </a:buClr>
              <a:buSzPts val="930"/>
              <a:buFont typeface="IBM Plex Sans"/>
              <a:buChar char="●"/>
            </a:pPr>
            <a:r>
              <a:rPr lang="en" sz="9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Requirements specification</a:t>
            </a:r>
            <a:endParaRPr sz="9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7325" lvl="0" marL="12827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Clr>
                <a:srgbClr val="1F2528"/>
              </a:buClr>
              <a:buSzPts val="930"/>
              <a:buFont typeface="IBM Plex Sans"/>
              <a:buChar char="●"/>
            </a:pPr>
            <a:r>
              <a:rPr lang="en" sz="9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Requirements validation</a:t>
            </a:r>
            <a:endParaRPr sz="9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08" name="Google Shape;108;p15"/>
          <p:cNvCxnSpPr/>
          <p:nvPr/>
        </p:nvCxnSpPr>
        <p:spPr>
          <a:xfrm>
            <a:off x="2557463" y="891518"/>
            <a:ext cx="1928700" cy="0"/>
          </a:xfrm>
          <a:prstGeom prst="straightConnector1">
            <a:avLst/>
          </a:prstGeom>
          <a:noFill/>
          <a:ln cap="flat" cmpd="sng" w="292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5"/>
          <p:cNvSpPr txBox="1"/>
          <p:nvPr/>
        </p:nvSpPr>
        <p:spPr>
          <a:xfrm>
            <a:off x="2466023" y="956669"/>
            <a:ext cx="372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ploxs-render-artifact:v1:{&quot;kind&quot;:&quot;paint-raster&quot;}" id="110" name="Google Shape;110;p15" title="Ploxs rendered HTML elemen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7463" y="1198699"/>
            <a:ext cx="3143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2466023" y="1529678"/>
            <a:ext cx="15294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Design and</a:t>
            </a:r>
            <a:endParaRPr b="1" sz="124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9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implementation</a:t>
            </a:r>
            <a:endParaRPr b="1" sz="124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2466023" y="1948257"/>
            <a:ext cx="22101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Turns the specification into a working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system.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2466023" y="2376346"/>
            <a:ext cx="21117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7325" lvl="0" marL="12827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Clr>
                <a:srgbClr val="1F2528"/>
              </a:buClr>
              <a:buSzPts val="930"/>
              <a:buFont typeface="IBM Plex Sans"/>
              <a:buChar char="●"/>
            </a:pPr>
            <a:r>
              <a:rPr lang="en" sz="9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Architecture, components, interfaces</a:t>
            </a:r>
            <a:endParaRPr sz="9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7325" lvl="0" marL="12827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Clr>
                <a:srgbClr val="1F2528"/>
              </a:buClr>
              <a:buSzPts val="930"/>
              <a:buFont typeface="IBM Plex Sans"/>
              <a:buChar char="●"/>
            </a:pPr>
            <a:r>
              <a:rPr lang="en" sz="9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structures and algorithms</a:t>
            </a:r>
            <a:endParaRPr sz="9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7325" lvl="0" marL="12827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Clr>
                <a:srgbClr val="1F2528"/>
              </a:buClr>
              <a:buSzPts val="930"/>
              <a:buFont typeface="IBM Plex Sans"/>
              <a:buChar char="●"/>
            </a:pPr>
            <a:r>
              <a:rPr lang="en" sz="9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Coding, debugging, integrating</a:t>
            </a:r>
            <a:endParaRPr sz="9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14" name="Google Shape;114;p15"/>
          <p:cNvCxnSpPr/>
          <p:nvPr/>
        </p:nvCxnSpPr>
        <p:spPr>
          <a:xfrm>
            <a:off x="4657725" y="891518"/>
            <a:ext cx="1928700" cy="0"/>
          </a:xfrm>
          <a:prstGeom prst="straightConnector1">
            <a:avLst/>
          </a:prstGeom>
          <a:noFill/>
          <a:ln cap="flat" cmpd="sng" w="292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5"/>
          <p:cNvSpPr txBox="1"/>
          <p:nvPr/>
        </p:nvSpPr>
        <p:spPr>
          <a:xfrm>
            <a:off x="4566285" y="956669"/>
            <a:ext cx="372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ploxs-render-artifact:v1:{&quot;kind&quot;:&quot;paint-raster&quot;}" id="116" name="Google Shape;116;p15" title="Ploxs rendered HTML elemen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7725" y="1198699"/>
            <a:ext cx="3143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4566285" y="1509595"/>
            <a:ext cx="10722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Validation</a:t>
            </a:r>
            <a:endParaRPr b="1" sz="124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4566285" y="1759394"/>
            <a:ext cx="20316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Shows the system conforms to its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specification and meets real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customer needs.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4566285" y="2353129"/>
            <a:ext cx="21117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7325" lvl="0" marL="12827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Clr>
                <a:srgbClr val="1F2528"/>
              </a:buClr>
              <a:buSzPts val="930"/>
              <a:buFont typeface="IBM Plex Sans"/>
              <a:buChar char="●"/>
            </a:pPr>
            <a:r>
              <a:rPr lang="en" sz="9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Reviews and inspections</a:t>
            </a:r>
            <a:endParaRPr sz="9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7325" lvl="0" marL="12827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Clr>
                <a:srgbClr val="1F2528"/>
              </a:buClr>
              <a:buSzPts val="930"/>
              <a:buFont typeface="IBM Plex Sans"/>
              <a:buChar char="●"/>
            </a:pPr>
            <a:r>
              <a:rPr lang="en" sz="9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Unit, system and acceptance testing</a:t>
            </a:r>
            <a:endParaRPr sz="9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20" name="Google Shape;120;p15"/>
          <p:cNvCxnSpPr/>
          <p:nvPr/>
        </p:nvCxnSpPr>
        <p:spPr>
          <a:xfrm>
            <a:off x="6757988" y="891518"/>
            <a:ext cx="1928700" cy="0"/>
          </a:xfrm>
          <a:prstGeom prst="straightConnector1">
            <a:avLst/>
          </a:prstGeom>
          <a:noFill/>
          <a:ln cap="flat" cmpd="sng" w="292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5"/>
          <p:cNvSpPr txBox="1"/>
          <p:nvPr/>
        </p:nvSpPr>
        <p:spPr>
          <a:xfrm>
            <a:off x="6666548" y="956669"/>
            <a:ext cx="372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04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ploxs-render-artifact:v1:{&quot;kind&quot;:&quot;paint-raster&quot;}" id="122" name="Google Shape;122;p15" title="Ploxs rendered HTML elemen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57988" y="1198699"/>
            <a:ext cx="3143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6666548" y="1509595"/>
            <a:ext cx="10365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Evolution</a:t>
            </a:r>
            <a:endParaRPr b="1" sz="124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666548" y="1759394"/>
            <a:ext cx="21951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Modifies the system after delivery as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business needs, platforms and user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requests change.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666548" y="2353129"/>
            <a:ext cx="21060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7325" lvl="0" marL="12827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Clr>
                <a:srgbClr val="1F2528"/>
              </a:buClr>
              <a:buSzPts val="930"/>
              <a:buFont typeface="IBM Plex Sans"/>
              <a:buChar char="●"/>
            </a:pPr>
            <a:r>
              <a:rPr lang="en" sz="9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Corrective, adaptive, perfective</a:t>
            </a:r>
            <a:endParaRPr sz="9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7325" lvl="0" marL="12827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Clr>
                <a:srgbClr val="1F2528"/>
              </a:buClr>
              <a:buSzPts val="930"/>
              <a:buFont typeface="IBM Plex Sans"/>
              <a:buChar char="●"/>
            </a:pPr>
            <a:r>
              <a:rPr lang="en" sz="9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Reuses the existing system</a:t>
            </a:r>
            <a:endParaRPr sz="9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457200" y="4040684"/>
            <a:ext cx="8229600" cy="545700"/>
          </a:xfrm>
          <a:prstGeom prst="rect">
            <a:avLst/>
          </a:prstGeom>
          <a:solidFill>
            <a:srgbClr val="FFFFFF"/>
          </a:solidFill>
          <a:ln cap="flat" cmpd="sng" w="7625">
            <a:solidFill>
              <a:srgbClr val="CBC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loxs-render-artifact:v1:{&quot;kind&quot;:&quot;paint-raster&quot;}" id="127" name="Google Shape;127;p15" title="Ploxs rendered HTML element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2931" y="4192042"/>
            <a:ext cx="242888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930116" y="4091047"/>
            <a:ext cx="75222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Specification feeds development, development produces a system for validation, and validation results feed back into earlier work. Once</a:t>
            </a:r>
            <a:endParaRPr sz="86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delivered, evolution restarts the cycle with new or changed requirements.</a:t>
            </a:r>
            <a:endParaRPr sz="86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9" name="Google Shape;129;p15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130" name="Google Shape;130;p15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" name="Google Shape;131;p15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BLA_02                                                                               03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16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16"/>
          <p:cNvSpPr txBox="1"/>
          <p:nvPr/>
        </p:nvSpPr>
        <p:spPr>
          <a:xfrm>
            <a:off x="365760" y="408051"/>
            <a:ext cx="5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815816" y="243459"/>
            <a:ext cx="51891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Specification and validation in detail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39" name="Google Shape;139;p16"/>
          <p:cNvGrpSpPr/>
          <p:nvPr/>
        </p:nvGrpSpPr>
        <p:grpSpPr>
          <a:xfrm>
            <a:off x="467916" y="860085"/>
            <a:ext cx="8631650" cy="592800"/>
            <a:chOff x="467916" y="860085"/>
            <a:chExt cx="8631650" cy="592800"/>
          </a:xfrm>
        </p:grpSpPr>
        <p:cxnSp>
          <p:nvCxnSpPr>
            <p:cNvPr id="140" name="Google Shape;140;p16"/>
            <p:cNvCxnSpPr/>
            <p:nvPr/>
          </p:nvCxnSpPr>
          <p:spPr>
            <a:xfrm>
              <a:off x="467916" y="877230"/>
              <a:ext cx="0" cy="558600"/>
            </a:xfrm>
            <a:prstGeom prst="straightConnector1">
              <a:avLst/>
            </a:prstGeom>
            <a:noFill/>
            <a:ln cap="flat" cmpd="sng" w="21600">
              <a:solidFill>
                <a:srgbClr val="C2662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" name="Google Shape;141;p16"/>
            <p:cNvSpPr txBox="1"/>
            <p:nvPr/>
          </p:nvSpPr>
          <p:spPr>
            <a:xfrm>
              <a:off x="530066" y="860085"/>
              <a:ext cx="8569500" cy="5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4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0">
                  <a:solidFill>
                    <a:srgbClr val="1F2528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Mistakes in specification are the most expensive to fix later, which is why this stage matters so much.</a:t>
              </a:r>
              <a:endParaRPr sz="1460">
                <a:solidFill>
                  <a:srgbClr val="1F252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endParaRPr>
            </a:p>
          </p:txBody>
        </p:sp>
      </p:grpSp>
      <p:sp>
        <p:nvSpPr>
          <p:cNvPr id="142" name="Google Shape;142;p16"/>
          <p:cNvSpPr txBox="1"/>
          <p:nvPr/>
        </p:nvSpPr>
        <p:spPr>
          <a:xfrm>
            <a:off x="365760" y="1564941"/>
            <a:ext cx="16227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SPECIFICATION INCLUDES</a:t>
            </a:r>
            <a:endParaRPr b="1" sz="65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43" name="Google Shape;143;p16"/>
          <p:cNvGrpSpPr/>
          <p:nvPr/>
        </p:nvGrpSpPr>
        <p:grpSpPr>
          <a:xfrm>
            <a:off x="365760" y="1806476"/>
            <a:ext cx="2111700" cy="610689"/>
            <a:chOff x="365760" y="1806476"/>
            <a:chExt cx="2111700" cy="610689"/>
          </a:xfrm>
        </p:grpSpPr>
        <p:cxnSp>
          <p:nvCxnSpPr>
            <p:cNvPr id="144" name="Google Shape;144;p16"/>
            <p:cNvCxnSpPr/>
            <p:nvPr/>
          </p:nvCxnSpPr>
          <p:spPr>
            <a:xfrm>
              <a:off x="457200" y="1806476"/>
              <a:ext cx="1928700" cy="0"/>
            </a:xfrm>
            <a:prstGeom prst="straightConnector1">
              <a:avLst/>
            </a:prstGeom>
            <a:noFill/>
            <a:ln cap="flat" cmpd="sng" w="7625">
              <a:solidFill>
                <a:srgbClr val="2F3A4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5" name="Google Shape;145;p16"/>
            <p:cNvSpPr txBox="1"/>
            <p:nvPr/>
          </p:nvSpPr>
          <p:spPr>
            <a:xfrm>
              <a:off x="365760" y="1835765"/>
              <a:ext cx="21117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6F5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Feasibility study</a:t>
              </a:r>
              <a:endParaRPr b="1" sz="92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7500"/>
                </a:lnSpc>
                <a:spcBef>
                  <a:spcPts val="380"/>
                </a:spcBef>
                <a:spcAft>
                  <a:spcPts val="0"/>
                </a:spcAft>
                <a:buNone/>
              </a:pPr>
              <a:r>
                <a:rPr lang="en" sz="7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Is the system technically and financially worth building?</a:t>
              </a:r>
              <a:endParaRPr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46" name="Google Shape;146;p16"/>
          <p:cNvGrpSpPr/>
          <p:nvPr/>
        </p:nvGrpSpPr>
        <p:grpSpPr>
          <a:xfrm>
            <a:off x="2466023" y="1806476"/>
            <a:ext cx="2111700" cy="610689"/>
            <a:chOff x="2466023" y="1806476"/>
            <a:chExt cx="2111700" cy="610689"/>
          </a:xfrm>
        </p:grpSpPr>
        <p:cxnSp>
          <p:nvCxnSpPr>
            <p:cNvPr id="147" name="Google Shape;147;p16"/>
            <p:cNvCxnSpPr/>
            <p:nvPr/>
          </p:nvCxnSpPr>
          <p:spPr>
            <a:xfrm>
              <a:off x="2557463" y="1806476"/>
              <a:ext cx="1928700" cy="0"/>
            </a:xfrm>
            <a:prstGeom prst="straightConnector1">
              <a:avLst/>
            </a:prstGeom>
            <a:noFill/>
            <a:ln cap="flat" cmpd="sng" w="7625">
              <a:solidFill>
                <a:srgbClr val="2F3A4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8" name="Google Shape;148;p16"/>
            <p:cNvSpPr txBox="1"/>
            <p:nvPr/>
          </p:nvSpPr>
          <p:spPr>
            <a:xfrm>
              <a:off x="2466023" y="1835765"/>
              <a:ext cx="21117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6F5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Elicitation and analysis</a:t>
              </a:r>
              <a:endParaRPr b="1" sz="92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7500"/>
                </a:lnSpc>
                <a:spcBef>
                  <a:spcPts val="380"/>
                </a:spcBef>
                <a:spcAft>
                  <a:spcPts val="0"/>
                </a:spcAft>
                <a:buNone/>
              </a:pPr>
              <a:r>
                <a:rPr lang="en" sz="7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Interviews, observation or prototypes to find stakeholder needs.</a:t>
              </a:r>
              <a:endParaRPr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49" name="Google Shape;149;p16"/>
          <p:cNvGrpSpPr/>
          <p:nvPr/>
        </p:nvGrpSpPr>
        <p:grpSpPr>
          <a:xfrm>
            <a:off x="4566285" y="1806476"/>
            <a:ext cx="2195100" cy="610689"/>
            <a:chOff x="4566285" y="1806476"/>
            <a:chExt cx="2195100" cy="610689"/>
          </a:xfrm>
        </p:grpSpPr>
        <p:cxnSp>
          <p:nvCxnSpPr>
            <p:cNvPr id="150" name="Google Shape;150;p16"/>
            <p:cNvCxnSpPr/>
            <p:nvPr/>
          </p:nvCxnSpPr>
          <p:spPr>
            <a:xfrm>
              <a:off x="4657725" y="1806476"/>
              <a:ext cx="1928700" cy="0"/>
            </a:xfrm>
            <a:prstGeom prst="straightConnector1">
              <a:avLst/>
            </a:prstGeom>
            <a:noFill/>
            <a:ln cap="flat" cmpd="sng" w="7625">
              <a:solidFill>
                <a:srgbClr val="2F3A4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1" name="Google Shape;151;p16"/>
            <p:cNvSpPr txBox="1"/>
            <p:nvPr/>
          </p:nvSpPr>
          <p:spPr>
            <a:xfrm>
              <a:off x="4566285" y="1835765"/>
              <a:ext cx="21951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6F5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Specification</a:t>
              </a:r>
              <a:endParaRPr b="1" sz="92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7500"/>
                </a:lnSpc>
                <a:spcBef>
                  <a:spcPts val="380"/>
                </a:spcBef>
                <a:spcAft>
                  <a:spcPts val="0"/>
                </a:spcAft>
                <a:buNone/>
              </a:pPr>
              <a:r>
                <a:rPr lang="en" sz="7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User requirements (high level) and system requirements (detailed).</a:t>
              </a:r>
              <a:endParaRPr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52" name="Google Shape;152;p16"/>
          <p:cNvGrpSpPr/>
          <p:nvPr/>
        </p:nvGrpSpPr>
        <p:grpSpPr>
          <a:xfrm>
            <a:off x="6666548" y="1806476"/>
            <a:ext cx="2111700" cy="610689"/>
            <a:chOff x="6666548" y="1806476"/>
            <a:chExt cx="2111700" cy="610689"/>
          </a:xfrm>
        </p:grpSpPr>
        <p:cxnSp>
          <p:nvCxnSpPr>
            <p:cNvPr id="153" name="Google Shape;153;p16"/>
            <p:cNvCxnSpPr/>
            <p:nvPr/>
          </p:nvCxnSpPr>
          <p:spPr>
            <a:xfrm>
              <a:off x="6757988" y="1806476"/>
              <a:ext cx="1928700" cy="0"/>
            </a:xfrm>
            <a:prstGeom prst="straightConnector1">
              <a:avLst/>
            </a:prstGeom>
            <a:noFill/>
            <a:ln cap="flat" cmpd="sng" w="7625">
              <a:solidFill>
                <a:srgbClr val="2F3A4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4" name="Google Shape;154;p16"/>
            <p:cNvSpPr txBox="1"/>
            <p:nvPr/>
          </p:nvSpPr>
          <p:spPr>
            <a:xfrm>
              <a:off x="6666548" y="1835765"/>
              <a:ext cx="21117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6F5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Requirements validation</a:t>
              </a:r>
              <a:endParaRPr b="1" sz="92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7500"/>
                </a:lnSpc>
                <a:spcBef>
                  <a:spcPts val="380"/>
                </a:spcBef>
                <a:spcAft>
                  <a:spcPts val="0"/>
                </a:spcAft>
                <a:buNone/>
              </a:pPr>
              <a:r>
                <a:rPr lang="en" sz="7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Check they are realistic, consistent and complete.</a:t>
              </a:r>
              <a:endParaRPr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55" name="Google Shape;155;p16"/>
          <p:cNvSpPr/>
          <p:nvPr/>
        </p:nvSpPr>
        <p:spPr>
          <a:xfrm>
            <a:off x="457200" y="2542952"/>
            <a:ext cx="2628900" cy="2043300"/>
          </a:xfrm>
          <a:prstGeom prst="rect">
            <a:avLst/>
          </a:prstGeom>
          <a:solidFill>
            <a:srgbClr val="FFFFFF"/>
          </a:solidFill>
          <a:ln cap="flat" cmpd="sng" w="7625">
            <a:solidFill>
              <a:srgbClr val="CBC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530066" y="2625248"/>
            <a:ext cx="11937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Verification</a:t>
            </a:r>
            <a:endParaRPr b="1" sz="124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530066" y="2886638"/>
            <a:ext cx="23958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30">
                <a:solidFill>
                  <a:srgbClr val="1F6F5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Are we building the product right?</a:t>
            </a:r>
            <a:endParaRPr sz="1030">
              <a:solidFill>
                <a:srgbClr val="1F6F5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530066" y="3123555"/>
            <a:ext cx="23661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Checks the system against its specification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through reviews and inspections of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requirements, design and code.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3257550" y="2542952"/>
            <a:ext cx="2628900" cy="2043300"/>
          </a:xfrm>
          <a:prstGeom prst="rect">
            <a:avLst/>
          </a:prstGeom>
          <a:solidFill>
            <a:srgbClr val="FFFFFF"/>
          </a:solidFill>
          <a:ln cap="flat" cmpd="sng" w="7625">
            <a:solidFill>
              <a:srgbClr val="CBC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3330416" y="2625248"/>
            <a:ext cx="10722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Validation</a:t>
            </a:r>
            <a:endParaRPr b="1" sz="124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3330416" y="2886638"/>
            <a:ext cx="23958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30">
                <a:solidFill>
                  <a:srgbClr val="1F6F5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Are we building the right product?</a:t>
            </a:r>
            <a:endParaRPr sz="1030">
              <a:solidFill>
                <a:srgbClr val="1F6F5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3330416" y="3123555"/>
            <a:ext cx="24849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Checks the system meets the customer’s real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needs, including acceptance testing with the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customer.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057900" y="2542952"/>
            <a:ext cx="2628900" cy="2043300"/>
          </a:xfrm>
          <a:prstGeom prst="rect">
            <a:avLst/>
          </a:prstGeom>
          <a:solidFill>
            <a:srgbClr val="FFFFFF"/>
          </a:solidFill>
          <a:ln cap="flat" cmpd="sng" w="7625">
            <a:solidFill>
              <a:srgbClr val="CBC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130766" y="2625248"/>
            <a:ext cx="13722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Testing levels</a:t>
            </a:r>
            <a:endParaRPr b="1" sz="124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6130766" y="2886638"/>
            <a:ext cx="18651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30">
                <a:solidFill>
                  <a:srgbClr val="1F6F5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Unit, system, acceptance</a:t>
            </a:r>
            <a:endParaRPr sz="1030">
              <a:solidFill>
                <a:srgbClr val="1F6F5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6130766" y="3123555"/>
            <a:ext cx="24924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 is the most common technique, but it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 only show that defects are present, not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that none remain.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67" name="Google Shape;167;p16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168" name="Google Shape;168;p16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" name="Google Shape;169;p16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BLA_02                                                                               04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" name="Google Shape;174;p17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17"/>
          <p:cNvSpPr txBox="1"/>
          <p:nvPr/>
        </p:nvSpPr>
        <p:spPr>
          <a:xfrm>
            <a:off x="365760" y="408051"/>
            <a:ext cx="5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815816" y="243459"/>
            <a:ext cx="51150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Example: QA automation in a project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177" name="Google Shape;177;p17"/>
          <p:cNvCxnSpPr/>
          <p:nvPr/>
        </p:nvCxnSpPr>
        <p:spPr>
          <a:xfrm>
            <a:off x="457200" y="1476524"/>
            <a:ext cx="1907400" cy="0"/>
          </a:xfrm>
          <a:prstGeom prst="straightConnector1">
            <a:avLst/>
          </a:prstGeom>
          <a:noFill/>
          <a:ln cap="flat" cmpd="sng" w="216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17"/>
          <p:cNvSpPr txBox="1"/>
          <p:nvPr/>
        </p:nvSpPr>
        <p:spPr>
          <a:xfrm>
            <a:off x="365760" y="1559534"/>
            <a:ext cx="5721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STEP 1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ploxs-render-artifact:v1:{&quot;kind&quot;:&quot;paint-raster&quot;}" id="179" name="Google Shape;179;p17" title="Ploxs rendered HTML elemen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730127"/>
            <a:ext cx="328613" cy="32861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365760" y="2069598"/>
            <a:ext cx="14724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Write the tests</a:t>
            </a:r>
            <a:endParaRPr b="1" sz="124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365760" y="2319397"/>
            <a:ext cx="20316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Tests use a framework such as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pytest with a browser automation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tool to simulate user interactions.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82" name="Google Shape;182;p17"/>
          <p:cNvCxnSpPr/>
          <p:nvPr/>
        </p:nvCxnSpPr>
        <p:spPr>
          <a:xfrm>
            <a:off x="2564606" y="1476524"/>
            <a:ext cx="1907400" cy="0"/>
          </a:xfrm>
          <a:prstGeom prst="straightConnector1">
            <a:avLst/>
          </a:prstGeom>
          <a:noFill/>
          <a:ln cap="flat" cmpd="sng" w="216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17"/>
          <p:cNvSpPr txBox="1"/>
          <p:nvPr/>
        </p:nvSpPr>
        <p:spPr>
          <a:xfrm>
            <a:off x="2473166" y="1559534"/>
            <a:ext cx="5721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STEP 2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ploxs-render-artifact:v1:{&quot;kind&quot;:&quot;paint-raster&quot;}" id="184" name="Google Shape;184;p17" title="Ploxs rendered HTML elemen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4606" y="1730127"/>
            <a:ext cx="328613" cy="32861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2473166" y="2089681"/>
            <a:ext cx="2151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Run from the command</a:t>
            </a:r>
            <a:endParaRPr b="1" sz="124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9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line</a:t>
            </a:r>
            <a:endParaRPr b="1" sz="124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2473166" y="2508260"/>
            <a:ext cx="21654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Developers run the automated tests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in their local development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environment.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87" name="Google Shape;187;p17"/>
          <p:cNvCxnSpPr/>
          <p:nvPr/>
        </p:nvCxnSpPr>
        <p:spPr>
          <a:xfrm>
            <a:off x="4672013" y="1476524"/>
            <a:ext cx="1907400" cy="0"/>
          </a:xfrm>
          <a:prstGeom prst="straightConnector1">
            <a:avLst/>
          </a:prstGeom>
          <a:noFill/>
          <a:ln cap="flat" cmpd="sng" w="216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17"/>
          <p:cNvSpPr txBox="1"/>
          <p:nvPr/>
        </p:nvSpPr>
        <p:spPr>
          <a:xfrm>
            <a:off x="4580573" y="1559534"/>
            <a:ext cx="5721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STEP 3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ploxs-render-artifact:v1:{&quot;kind&quot;:&quot;paint-raster&quot;}" id="189" name="Google Shape;189;p17" title="Ploxs rendered HTML elemen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2013" y="1730127"/>
            <a:ext cx="328613" cy="32861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4580573" y="2069598"/>
            <a:ext cx="12579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Run in CI/CD</a:t>
            </a:r>
            <a:endParaRPr b="1" sz="124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4580573" y="2319397"/>
            <a:ext cx="20763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same tests run in the project’s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CI/CD pipeline on every change.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92" name="Google Shape;192;p17"/>
          <p:cNvCxnSpPr/>
          <p:nvPr/>
        </p:nvCxnSpPr>
        <p:spPr>
          <a:xfrm>
            <a:off x="6779419" y="1476524"/>
            <a:ext cx="1907400" cy="0"/>
          </a:xfrm>
          <a:prstGeom prst="straightConnector1">
            <a:avLst/>
          </a:prstGeom>
          <a:noFill/>
          <a:ln cap="flat" cmpd="sng" w="216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17"/>
          <p:cNvSpPr txBox="1"/>
          <p:nvPr/>
        </p:nvSpPr>
        <p:spPr>
          <a:xfrm>
            <a:off x="6687979" y="1559534"/>
            <a:ext cx="5721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STEP 4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ploxs-render-artifact:v1:{&quot;kind&quot;:&quot;paint-raster&quot;}" id="194" name="Google Shape;194;p17" title="Ploxs rendered HTML elemen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79419" y="1730127"/>
            <a:ext cx="328613" cy="32861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 txBox="1"/>
          <p:nvPr/>
        </p:nvSpPr>
        <p:spPr>
          <a:xfrm>
            <a:off x="6687979" y="2069598"/>
            <a:ext cx="17151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Catch regressions</a:t>
            </a:r>
            <a:endParaRPr b="1" sz="124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6687979" y="2319397"/>
            <a:ext cx="2113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Failures are caught before the code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is deployed to users.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365760" y="3794014"/>
            <a:ext cx="22752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WHERE THE FOUR ACTIVITIES APPEAR</a:t>
            </a:r>
            <a:endParaRPr b="1" sz="65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98" name="Google Shape;198;p17"/>
          <p:cNvGrpSpPr/>
          <p:nvPr/>
        </p:nvGrpSpPr>
        <p:grpSpPr>
          <a:xfrm>
            <a:off x="365760" y="4035549"/>
            <a:ext cx="2090400" cy="596589"/>
            <a:chOff x="365760" y="4035549"/>
            <a:chExt cx="2090400" cy="596589"/>
          </a:xfrm>
        </p:grpSpPr>
        <p:cxnSp>
          <p:nvCxnSpPr>
            <p:cNvPr id="199" name="Google Shape;199;p17"/>
            <p:cNvCxnSpPr/>
            <p:nvPr/>
          </p:nvCxnSpPr>
          <p:spPr>
            <a:xfrm>
              <a:off x="457200" y="4035549"/>
              <a:ext cx="1907400" cy="0"/>
            </a:xfrm>
            <a:prstGeom prst="straightConnector1">
              <a:avLst/>
            </a:prstGeom>
            <a:noFill/>
            <a:ln cap="flat" cmpd="sng" w="7625">
              <a:solidFill>
                <a:srgbClr val="2F3A4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0" name="Google Shape;200;p17"/>
            <p:cNvSpPr txBox="1"/>
            <p:nvPr/>
          </p:nvSpPr>
          <p:spPr>
            <a:xfrm>
              <a:off x="365760" y="4064838"/>
              <a:ext cx="2090400" cy="5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rgbClr val="1F6F5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Specification</a:t>
              </a:r>
              <a:endParaRPr b="1" sz="86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7500"/>
                </a:lnSpc>
                <a:spcBef>
                  <a:spcPts val="340"/>
                </a:spcBef>
                <a:spcAft>
                  <a:spcPts val="0"/>
                </a:spcAft>
                <a:buNone/>
              </a:pPr>
              <a:r>
                <a:rPr lang="en" sz="7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Expected user behaviour becomes test cases.</a:t>
              </a:r>
              <a:endParaRPr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201" name="Google Shape;201;p17"/>
          <p:cNvGrpSpPr/>
          <p:nvPr/>
        </p:nvGrpSpPr>
        <p:grpSpPr>
          <a:xfrm>
            <a:off x="2473166" y="4035549"/>
            <a:ext cx="2187600" cy="596589"/>
            <a:chOff x="2473166" y="4035549"/>
            <a:chExt cx="2187600" cy="596589"/>
          </a:xfrm>
        </p:grpSpPr>
        <p:cxnSp>
          <p:nvCxnSpPr>
            <p:cNvPr id="202" name="Google Shape;202;p17"/>
            <p:cNvCxnSpPr/>
            <p:nvPr/>
          </p:nvCxnSpPr>
          <p:spPr>
            <a:xfrm>
              <a:off x="2564606" y="4035549"/>
              <a:ext cx="1907400" cy="0"/>
            </a:xfrm>
            <a:prstGeom prst="straightConnector1">
              <a:avLst/>
            </a:prstGeom>
            <a:noFill/>
            <a:ln cap="flat" cmpd="sng" w="7625">
              <a:solidFill>
                <a:srgbClr val="2F3A4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3" name="Google Shape;203;p17"/>
            <p:cNvSpPr txBox="1"/>
            <p:nvPr/>
          </p:nvSpPr>
          <p:spPr>
            <a:xfrm>
              <a:off x="2473166" y="4064838"/>
              <a:ext cx="2187600" cy="5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rgbClr val="1F6F5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Development</a:t>
              </a:r>
              <a:endParaRPr b="1" sz="86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7500"/>
                </a:lnSpc>
                <a:spcBef>
                  <a:spcPts val="340"/>
                </a:spcBef>
                <a:spcAft>
                  <a:spcPts val="0"/>
                </a:spcAft>
                <a:buNone/>
              </a:pPr>
              <a:r>
                <a:rPr lang="en" sz="7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Application code and test code are written together.</a:t>
              </a:r>
              <a:endParaRPr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204" name="Google Shape;204;p17"/>
          <p:cNvGrpSpPr/>
          <p:nvPr/>
        </p:nvGrpSpPr>
        <p:grpSpPr>
          <a:xfrm>
            <a:off x="4580573" y="4035549"/>
            <a:ext cx="2090400" cy="596589"/>
            <a:chOff x="4580573" y="4035549"/>
            <a:chExt cx="2090400" cy="596589"/>
          </a:xfrm>
        </p:grpSpPr>
        <p:cxnSp>
          <p:nvCxnSpPr>
            <p:cNvPr id="205" name="Google Shape;205;p17"/>
            <p:cNvCxnSpPr/>
            <p:nvPr/>
          </p:nvCxnSpPr>
          <p:spPr>
            <a:xfrm>
              <a:off x="4672013" y="4035549"/>
              <a:ext cx="1907400" cy="0"/>
            </a:xfrm>
            <a:prstGeom prst="straightConnector1">
              <a:avLst/>
            </a:prstGeom>
            <a:noFill/>
            <a:ln cap="flat" cmpd="sng" w="7625">
              <a:solidFill>
                <a:srgbClr val="2F3A4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6" name="Google Shape;206;p17"/>
            <p:cNvSpPr txBox="1"/>
            <p:nvPr/>
          </p:nvSpPr>
          <p:spPr>
            <a:xfrm>
              <a:off x="4580573" y="4064838"/>
              <a:ext cx="2090400" cy="5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rgbClr val="1F6F5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Validation</a:t>
              </a:r>
              <a:endParaRPr b="1" sz="86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7500"/>
                </a:lnSpc>
                <a:spcBef>
                  <a:spcPts val="340"/>
                </a:spcBef>
                <a:spcAft>
                  <a:spcPts val="0"/>
                </a:spcAft>
                <a:buNone/>
              </a:pPr>
              <a:r>
                <a:rPr lang="en" sz="7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Automated runs verify the application behaves as specified.</a:t>
              </a:r>
              <a:endParaRPr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207" name="Google Shape;207;p17"/>
          <p:cNvGrpSpPr/>
          <p:nvPr/>
        </p:nvGrpSpPr>
        <p:grpSpPr>
          <a:xfrm>
            <a:off x="6687979" y="4035549"/>
            <a:ext cx="2090400" cy="596589"/>
            <a:chOff x="6687979" y="4035549"/>
            <a:chExt cx="2090400" cy="596589"/>
          </a:xfrm>
        </p:grpSpPr>
        <p:cxnSp>
          <p:nvCxnSpPr>
            <p:cNvPr id="208" name="Google Shape;208;p17"/>
            <p:cNvCxnSpPr/>
            <p:nvPr/>
          </p:nvCxnSpPr>
          <p:spPr>
            <a:xfrm>
              <a:off x="6779419" y="4035549"/>
              <a:ext cx="1907400" cy="0"/>
            </a:xfrm>
            <a:prstGeom prst="straightConnector1">
              <a:avLst/>
            </a:prstGeom>
            <a:noFill/>
            <a:ln cap="flat" cmpd="sng" w="7625">
              <a:solidFill>
                <a:srgbClr val="2F3A4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9" name="Google Shape;209;p17"/>
            <p:cNvSpPr txBox="1"/>
            <p:nvPr/>
          </p:nvSpPr>
          <p:spPr>
            <a:xfrm>
              <a:off x="6687979" y="4064838"/>
              <a:ext cx="2090400" cy="5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rgbClr val="1F6F5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Evolution</a:t>
              </a:r>
              <a:endParaRPr b="1" sz="86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7500"/>
                </a:lnSpc>
                <a:spcBef>
                  <a:spcPts val="340"/>
                </a:spcBef>
                <a:spcAft>
                  <a:spcPts val="0"/>
                </a:spcAft>
                <a:buNone/>
              </a:pPr>
              <a:r>
                <a:rPr lang="en" sz="7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Tests rerun on each change to protect existing behaviour.</a:t>
              </a:r>
              <a:endParaRPr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210" name="Google Shape;210;p17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211" name="Google Shape;211;p17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2" name="Google Shape;212;p17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BLA_02                                                                               06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" name="Google Shape;217;p18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18"/>
          <p:cNvSpPr txBox="1"/>
          <p:nvPr/>
        </p:nvSpPr>
        <p:spPr>
          <a:xfrm>
            <a:off x="365760" y="408051"/>
            <a:ext cx="5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2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815816" y="243459"/>
            <a:ext cx="36546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Software process models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365760" y="829330"/>
            <a:ext cx="48327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A process model is a </a:t>
            </a:r>
            <a:r>
              <a:rPr b="1" lang="en" sz="130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rPr>
              <a:t>simplified description</a:t>
            </a:r>
            <a:r>
              <a:rPr lang="en" sz="130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 of a software</a:t>
            </a:r>
            <a:endParaRPr sz="130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0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process, presented from one perspective.</a:t>
            </a:r>
            <a:endParaRPr sz="130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21" name="Google Shape;221;p18"/>
          <p:cNvCxnSpPr/>
          <p:nvPr/>
        </p:nvCxnSpPr>
        <p:spPr>
          <a:xfrm>
            <a:off x="457200" y="1525749"/>
            <a:ext cx="3972000" cy="0"/>
          </a:xfrm>
          <a:prstGeom prst="straightConnector1">
            <a:avLst/>
          </a:prstGeom>
          <a:noFill/>
          <a:ln cap="flat" cmpd="sng" w="292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222" name="Google Shape;222;p18" title="Ploxs rendered HTML elemen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654336"/>
            <a:ext cx="3143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8"/>
          <p:cNvSpPr txBox="1"/>
          <p:nvPr/>
        </p:nvSpPr>
        <p:spPr>
          <a:xfrm>
            <a:off x="365760" y="1974662"/>
            <a:ext cx="16044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3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Plan-driven</a:t>
            </a:r>
            <a:endParaRPr b="1" sz="173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365760" y="2310601"/>
            <a:ext cx="4000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3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 process activities are planned in advance, and progress is</a:t>
            </a:r>
            <a:endParaRPr sz="103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3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measured against that plan.</a:t>
            </a:r>
            <a:endParaRPr sz="103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25" name="Google Shape;225;p18"/>
          <p:cNvCxnSpPr/>
          <p:nvPr/>
        </p:nvCxnSpPr>
        <p:spPr>
          <a:xfrm>
            <a:off x="4714875" y="1525749"/>
            <a:ext cx="3972000" cy="0"/>
          </a:xfrm>
          <a:prstGeom prst="straightConnector1">
            <a:avLst/>
          </a:prstGeom>
          <a:noFill/>
          <a:ln cap="flat" cmpd="sng" w="29200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226" name="Google Shape;226;p18" title="Ploxs rendered HTML elemen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4875" y="1654336"/>
            <a:ext cx="3143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8"/>
          <p:cNvSpPr txBox="1"/>
          <p:nvPr/>
        </p:nvSpPr>
        <p:spPr>
          <a:xfrm>
            <a:off x="4623435" y="1974662"/>
            <a:ext cx="868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3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Agile</a:t>
            </a:r>
            <a:endParaRPr b="1" sz="173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4623435" y="2310601"/>
            <a:ext cx="4156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3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Planning is incremental, so it is easier to change the process to</a:t>
            </a:r>
            <a:endParaRPr sz="103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3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reflect changing customer requirements.</a:t>
            </a:r>
            <a:endParaRPr sz="103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229" name="Google Shape;229;p18"/>
          <p:cNvGrpSpPr/>
          <p:nvPr/>
        </p:nvGrpSpPr>
        <p:grpSpPr>
          <a:xfrm>
            <a:off x="467916" y="4316584"/>
            <a:ext cx="6678463" cy="292200"/>
            <a:chOff x="467916" y="4316584"/>
            <a:chExt cx="6678463" cy="292200"/>
          </a:xfrm>
        </p:grpSpPr>
        <p:cxnSp>
          <p:nvCxnSpPr>
            <p:cNvPr id="230" name="Google Shape;230;p18"/>
            <p:cNvCxnSpPr/>
            <p:nvPr/>
          </p:nvCxnSpPr>
          <p:spPr>
            <a:xfrm>
              <a:off x="467916" y="4339158"/>
              <a:ext cx="0" cy="247200"/>
            </a:xfrm>
            <a:prstGeom prst="straightConnector1">
              <a:avLst/>
            </a:prstGeom>
            <a:noFill/>
            <a:ln cap="flat" cmpd="sng" w="21600">
              <a:solidFill>
                <a:srgbClr val="C2662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1" name="Google Shape;231;p18"/>
            <p:cNvSpPr txBox="1"/>
            <p:nvPr/>
          </p:nvSpPr>
          <p:spPr>
            <a:xfrm>
              <a:off x="515779" y="4316584"/>
              <a:ext cx="66306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3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 practice, most processes include elements of both. There are no right or wrong software processes.</a:t>
              </a:r>
              <a:endParaRPr sz="10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232" name="Google Shape;232;p18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233" name="Google Shape;233;p18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4" name="Google Shape;234;p18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BLA_02                                                                               07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" name="Google Shape;239;p19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19"/>
          <p:cNvSpPr txBox="1"/>
          <p:nvPr/>
        </p:nvSpPr>
        <p:spPr>
          <a:xfrm>
            <a:off x="365760" y="408051"/>
            <a:ext cx="5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2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815816" y="243459"/>
            <a:ext cx="3859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Five approaches compared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242" name="Google Shape;242;p19"/>
          <p:cNvGraphicFramePr/>
          <p:nvPr/>
        </p:nvGraphicFramePr>
        <p:xfrm>
          <a:off x="457200" y="8772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{39EA00E4-D969-412F-AA78-75B5C6E0122F}</a:tableStyleId>
              </a:tblPr>
              <a:tblGrid>
                <a:gridCol w="1316675"/>
                <a:gridCol w="2304175"/>
                <a:gridCol w="2139650"/>
                <a:gridCol w="2469050"/>
              </a:tblGrid>
              <a:tr h="29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5C666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Approach</a:t>
                      </a:r>
                      <a:endParaRPr b="1" sz="700">
                        <a:solidFill>
                          <a:srgbClr val="5C666B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5C666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Basic idea</a:t>
                      </a:r>
                      <a:endParaRPr b="1" sz="700">
                        <a:solidFill>
                          <a:srgbClr val="5C666B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5C666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How work progresses</a:t>
                      </a:r>
                      <a:endParaRPr b="1" sz="700">
                        <a:solidFill>
                          <a:srgbClr val="5C666B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5C666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Suited to</a:t>
                      </a:r>
                      <a:endParaRPr b="1" sz="700">
                        <a:solidFill>
                          <a:srgbClr val="5C666B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6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Waterfall</a:t>
                      </a:r>
                      <a:endParaRPr b="1" sz="86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Sequential, linear phases: requirements, design, implementation, testing, maintenance.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Step by step; each stage is completed before the next begins.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Large projects with fixed, well-understood requirements, strict regulation or safety needs (aerospace, medical, infrastructure).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6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Incremental</a:t>
                      </a:r>
                      <a:endParaRPr b="1" sz="86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Build small pieces and deliver functional components early.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Repeating cycles add features to a growing baseline version.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Evolving requirements and a need for early release or feedback (web apps, SaaS tools).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6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Integration and configuration</a:t>
                      </a:r>
                      <a:endParaRPr b="1" sz="86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Assemble systems from off-the-shelf software, commercial packages or open-source components.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Evaluate, select, adapt and connect existing components.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Tight deadlines or budgets and standard business systems (CRM, ERP).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6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Plan-driven</a:t>
                      </a:r>
                      <a:endParaRPr b="1" sz="86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Plan every development activity in detail before implementation begins.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Pre-scheduled milestones and formal documentation tracked against a master plan.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Long-term enterprise work, fixed-price contracts, multi-team coordination, formal certification.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6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Agile</a:t>
                      </a:r>
                      <a:endParaRPr b="1" sz="86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Iterative, human-centered delivery with customer collaboration and fast response to change.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Short time-boxed sprints that each produce a working increment.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Startups, innovative products and customer-facing web or mobile apps.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43" name="Google Shape;243;p19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244" name="Google Shape;244;p19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5" name="Google Shape;245;p19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BLA_02                                                                               08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0" name="Google Shape;250;p20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20"/>
          <p:cNvSpPr txBox="1"/>
          <p:nvPr/>
        </p:nvSpPr>
        <p:spPr>
          <a:xfrm>
            <a:off x="365760" y="408051"/>
            <a:ext cx="5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3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815816" y="243459"/>
            <a:ext cx="29547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Waterfall model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253" name="Google Shape;253;p20"/>
          <p:cNvGrpSpPr/>
          <p:nvPr/>
        </p:nvGrpSpPr>
        <p:grpSpPr>
          <a:xfrm>
            <a:off x="457200" y="877230"/>
            <a:ext cx="1543200" cy="1185900"/>
            <a:chOff x="457200" y="877230"/>
            <a:chExt cx="1543200" cy="1185900"/>
          </a:xfrm>
        </p:grpSpPr>
        <p:sp>
          <p:nvSpPr>
            <p:cNvPr id="254" name="Google Shape;254;p20"/>
            <p:cNvSpPr/>
            <p:nvPr/>
          </p:nvSpPr>
          <p:spPr>
            <a:xfrm>
              <a:off x="457200" y="877230"/>
              <a:ext cx="1543200" cy="118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5" name="Google Shape;255;p20"/>
            <p:cNvCxnSpPr/>
            <p:nvPr/>
          </p:nvCxnSpPr>
          <p:spPr>
            <a:xfrm>
              <a:off x="457200" y="891518"/>
              <a:ext cx="1543200" cy="0"/>
            </a:xfrm>
            <a:prstGeom prst="straightConnector1">
              <a:avLst/>
            </a:prstGeom>
            <a:noFill/>
            <a:ln cap="flat" cmpd="sng" w="29200">
              <a:solidFill>
                <a:srgbClr val="1F6F5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20"/>
            <p:cNvCxnSpPr/>
            <p:nvPr/>
          </p:nvCxnSpPr>
          <p:spPr>
            <a:xfrm>
              <a:off x="1996678" y="877230"/>
              <a:ext cx="0" cy="118590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" name="Google Shape;257;p20"/>
            <p:cNvCxnSpPr/>
            <p:nvPr/>
          </p:nvCxnSpPr>
          <p:spPr>
            <a:xfrm>
              <a:off x="457200" y="2059521"/>
              <a:ext cx="15432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" name="Google Shape;258;p20"/>
            <p:cNvCxnSpPr/>
            <p:nvPr/>
          </p:nvCxnSpPr>
          <p:spPr>
            <a:xfrm>
              <a:off x="460772" y="877230"/>
              <a:ext cx="0" cy="118590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9" name="Google Shape;259;p20"/>
          <p:cNvSpPr txBox="1"/>
          <p:nvPr/>
        </p:nvSpPr>
        <p:spPr>
          <a:xfrm>
            <a:off x="472916" y="963812"/>
            <a:ext cx="372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472916" y="1115901"/>
            <a:ext cx="11187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Requirements</a:t>
            </a:r>
            <a:endParaRPr b="1" sz="97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9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analysis</a:t>
            </a:r>
            <a:endParaRPr b="1" sz="97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472916" y="1446840"/>
            <a:ext cx="142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Gather and document all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functional and non-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functional needs up front.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262" name="Google Shape;262;p20"/>
          <p:cNvGrpSpPr/>
          <p:nvPr/>
        </p:nvGrpSpPr>
        <p:grpSpPr>
          <a:xfrm>
            <a:off x="2128838" y="1248705"/>
            <a:ext cx="1543200" cy="1185900"/>
            <a:chOff x="2128838" y="1248705"/>
            <a:chExt cx="1543200" cy="1185900"/>
          </a:xfrm>
        </p:grpSpPr>
        <p:sp>
          <p:nvSpPr>
            <p:cNvPr id="263" name="Google Shape;263;p20"/>
            <p:cNvSpPr/>
            <p:nvPr/>
          </p:nvSpPr>
          <p:spPr>
            <a:xfrm>
              <a:off x="2128838" y="1248705"/>
              <a:ext cx="1543200" cy="118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4" name="Google Shape;264;p20"/>
            <p:cNvCxnSpPr/>
            <p:nvPr/>
          </p:nvCxnSpPr>
          <p:spPr>
            <a:xfrm>
              <a:off x="2128838" y="1262993"/>
              <a:ext cx="1543200" cy="0"/>
            </a:xfrm>
            <a:prstGeom prst="straightConnector1">
              <a:avLst/>
            </a:prstGeom>
            <a:noFill/>
            <a:ln cap="flat" cmpd="sng" w="29200">
              <a:solidFill>
                <a:srgbClr val="1F6F5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5" name="Google Shape;265;p20"/>
            <p:cNvCxnSpPr/>
            <p:nvPr/>
          </p:nvCxnSpPr>
          <p:spPr>
            <a:xfrm>
              <a:off x="3668316" y="1248705"/>
              <a:ext cx="0" cy="118590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6" name="Google Shape;266;p20"/>
            <p:cNvCxnSpPr/>
            <p:nvPr/>
          </p:nvCxnSpPr>
          <p:spPr>
            <a:xfrm>
              <a:off x="2128838" y="2430996"/>
              <a:ext cx="15432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20"/>
            <p:cNvCxnSpPr/>
            <p:nvPr/>
          </p:nvCxnSpPr>
          <p:spPr>
            <a:xfrm>
              <a:off x="2132409" y="1248705"/>
              <a:ext cx="0" cy="118590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8" name="Google Shape;268;p20"/>
          <p:cNvSpPr txBox="1"/>
          <p:nvPr/>
        </p:nvSpPr>
        <p:spPr>
          <a:xfrm>
            <a:off x="2144554" y="1335287"/>
            <a:ext cx="372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2144554" y="1487376"/>
            <a:ext cx="15831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and software</a:t>
            </a:r>
            <a:endParaRPr b="1" sz="97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9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design</a:t>
            </a:r>
            <a:endParaRPr b="1" sz="97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2144554" y="1818315"/>
            <a:ext cx="1368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Define architecture, data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models and component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structures.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271" name="Google Shape;271;p20"/>
          <p:cNvGrpSpPr/>
          <p:nvPr/>
        </p:nvGrpSpPr>
        <p:grpSpPr>
          <a:xfrm>
            <a:off x="3800475" y="1620180"/>
            <a:ext cx="1543200" cy="1185900"/>
            <a:chOff x="3800475" y="1620180"/>
            <a:chExt cx="1543200" cy="1185900"/>
          </a:xfrm>
        </p:grpSpPr>
        <p:sp>
          <p:nvSpPr>
            <p:cNvPr id="272" name="Google Shape;272;p20"/>
            <p:cNvSpPr/>
            <p:nvPr/>
          </p:nvSpPr>
          <p:spPr>
            <a:xfrm>
              <a:off x="3800475" y="1620180"/>
              <a:ext cx="1543200" cy="118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3" name="Google Shape;273;p20"/>
            <p:cNvCxnSpPr/>
            <p:nvPr/>
          </p:nvCxnSpPr>
          <p:spPr>
            <a:xfrm>
              <a:off x="3800475" y="1634468"/>
              <a:ext cx="1543200" cy="0"/>
            </a:xfrm>
            <a:prstGeom prst="straightConnector1">
              <a:avLst/>
            </a:prstGeom>
            <a:noFill/>
            <a:ln cap="flat" cmpd="sng" w="29200">
              <a:solidFill>
                <a:srgbClr val="1F6F5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20"/>
            <p:cNvCxnSpPr/>
            <p:nvPr/>
          </p:nvCxnSpPr>
          <p:spPr>
            <a:xfrm>
              <a:off x="5339953" y="1620180"/>
              <a:ext cx="0" cy="118590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20"/>
            <p:cNvCxnSpPr/>
            <p:nvPr/>
          </p:nvCxnSpPr>
          <p:spPr>
            <a:xfrm>
              <a:off x="3800475" y="2802471"/>
              <a:ext cx="15432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20"/>
            <p:cNvCxnSpPr/>
            <p:nvPr/>
          </p:nvCxnSpPr>
          <p:spPr>
            <a:xfrm>
              <a:off x="3804047" y="1620180"/>
              <a:ext cx="0" cy="118590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7" name="Google Shape;277;p20"/>
          <p:cNvSpPr txBox="1"/>
          <p:nvPr/>
        </p:nvSpPr>
        <p:spPr>
          <a:xfrm>
            <a:off x="3816191" y="1706762"/>
            <a:ext cx="372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3816191" y="1858851"/>
            <a:ext cx="14973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Implementation and</a:t>
            </a:r>
            <a:endParaRPr b="1" sz="97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9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unit testing</a:t>
            </a:r>
            <a:endParaRPr b="1" sz="97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3816191" y="2189790"/>
            <a:ext cx="1563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Code each module and verify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its basic functionality.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280" name="Google Shape;280;p20"/>
          <p:cNvGrpSpPr/>
          <p:nvPr/>
        </p:nvGrpSpPr>
        <p:grpSpPr>
          <a:xfrm>
            <a:off x="5472113" y="1991655"/>
            <a:ext cx="1543200" cy="1185900"/>
            <a:chOff x="5472113" y="1991655"/>
            <a:chExt cx="1543200" cy="1185900"/>
          </a:xfrm>
        </p:grpSpPr>
        <p:sp>
          <p:nvSpPr>
            <p:cNvPr id="281" name="Google Shape;281;p20"/>
            <p:cNvSpPr/>
            <p:nvPr/>
          </p:nvSpPr>
          <p:spPr>
            <a:xfrm>
              <a:off x="5472113" y="1991655"/>
              <a:ext cx="1543200" cy="118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2" name="Google Shape;282;p20"/>
            <p:cNvCxnSpPr/>
            <p:nvPr/>
          </p:nvCxnSpPr>
          <p:spPr>
            <a:xfrm>
              <a:off x="5472113" y="2005943"/>
              <a:ext cx="1543200" cy="0"/>
            </a:xfrm>
            <a:prstGeom prst="straightConnector1">
              <a:avLst/>
            </a:prstGeom>
            <a:noFill/>
            <a:ln cap="flat" cmpd="sng" w="29200">
              <a:solidFill>
                <a:srgbClr val="1F6F5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3" name="Google Shape;283;p20"/>
            <p:cNvCxnSpPr/>
            <p:nvPr/>
          </p:nvCxnSpPr>
          <p:spPr>
            <a:xfrm>
              <a:off x="7011591" y="1991655"/>
              <a:ext cx="0" cy="118590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4" name="Google Shape;284;p20"/>
            <p:cNvCxnSpPr/>
            <p:nvPr/>
          </p:nvCxnSpPr>
          <p:spPr>
            <a:xfrm>
              <a:off x="5472113" y="3173946"/>
              <a:ext cx="15432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5" name="Google Shape;285;p20"/>
            <p:cNvCxnSpPr/>
            <p:nvPr/>
          </p:nvCxnSpPr>
          <p:spPr>
            <a:xfrm>
              <a:off x="5475684" y="1991655"/>
              <a:ext cx="0" cy="118590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6" name="Google Shape;286;p20"/>
          <p:cNvSpPr txBox="1"/>
          <p:nvPr/>
        </p:nvSpPr>
        <p:spPr>
          <a:xfrm>
            <a:off x="5487829" y="2078237"/>
            <a:ext cx="372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04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5487829" y="2230326"/>
            <a:ext cx="12258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Integration and</a:t>
            </a:r>
            <a:endParaRPr b="1" sz="97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9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testing</a:t>
            </a:r>
            <a:endParaRPr b="1" sz="97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5487829" y="2561265"/>
            <a:ext cx="15858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Combine modules into a full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system and test it as a whole.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289" name="Google Shape;289;p20"/>
          <p:cNvGrpSpPr/>
          <p:nvPr/>
        </p:nvGrpSpPr>
        <p:grpSpPr>
          <a:xfrm>
            <a:off x="7143750" y="2363130"/>
            <a:ext cx="1543200" cy="1185900"/>
            <a:chOff x="7143750" y="2363130"/>
            <a:chExt cx="1543200" cy="1185900"/>
          </a:xfrm>
        </p:grpSpPr>
        <p:sp>
          <p:nvSpPr>
            <p:cNvPr id="290" name="Google Shape;290;p20"/>
            <p:cNvSpPr/>
            <p:nvPr/>
          </p:nvSpPr>
          <p:spPr>
            <a:xfrm>
              <a:off x="7143750" y="2363130"/>
              <a:ext cx="1543200" cy="118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1" name="Google Shape;291;p20"/>
            <p:cNvCxnSpPr/>
            <p:nvPr/>
          </p:nvCxnSpPr>
          <p:spPr>
            <a:xfrm>
              <a:off x="7143750" y="2377418"/>
              <a:ext cx="1543200" cy="0"/>
            </a:xfrm>
            <a:prstGeom prst="straightConnector1">
              <a:avLst/>
            </a:prstGeom>
            <a:noFill/>
            <a:ln cap="flat" cmpd="sng" w="29200">
              <a:solidFill>
                <a:srgbClr val="1F6F5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" name="Google Shape;292;p20"/>
            <p:cNvCxnSpPr/>
            <p:nvPr/>
          </p:nvCxnSpPr>
          <p:spPr>
            <a:xfrm>
              <a:off x="8683228" y="2363130"/>
              <a:ext cx="0" cy="118590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20"/>
            <p:cNvCxnSpPr/>
            <p:nvPr/>
          </p:nvCxnSpPr>
          <p:spPr>
            <a:xfrm>
              <a:off x="7143750" y="3545421"/>
              <a:ext cx="15432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p20"/>
            <p:cNvCxnSpPr/>
            <p:nvPr/>
          </p:nvCxnSpPr>
          <p:spPr>
            <a:xfrm>
              <a:off x="7147322" y="2363130"/>
              <a:ext cx="0" cy="118590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5" name="Google Shape;295;p20"/>
          <p:cNvSpPr txBox="1"/>
          <p:nvPr/>
        </p:nvSpPr>
        <p:spPr>
          <a:xfrm>
            <a:off x="7159466" y="2449712"/>
            <a:ext cx="372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05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7159466" y="2601801"/>
            <a:ext cx="12831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Deployment and</a:t>
            </a:r>
            <a:endParaRPr b="1" sz="97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9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maintenance</a:t>
            </a:r>
            <a:endParaRPr b="1" sz="97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7159466" y="2932740"/>
            <a:ext cx="156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Deliver to production, fix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remaining bugs, handle long-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term updates.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365760" y="2706602"/>
            <a:ext cx="20319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WATERFALL IS PLAN-DRIVEN</a:t>
            </a:r>
            <a:endParaRPr b="1" sz="65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365760" y="2891412"/>
            <a:ext cx="3317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2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rPr>
              <a:t>Rigid plan first.</a:t>
            </a:r>
            <a:r>
              <a:rPr lang="en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Development follows a pre-scheduled</a:t>
            </a:r>
            <a:endParaRPr sz="92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plan set before any code is written.</a:t>
            </a:r>
            <a:endParaRPr sz="92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365760" y="3314902"/>
            <a:ext cx="30495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2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Tracked strictly.</a:t>
            </a:r>
            <a:r>
              <a:rPr lang="en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 Every milestone, deliverable and</a:t>
            </a:r>
            <a:endParaRPr sz="92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resource allocation is mapped out upfront.</a:t>
            </a:r>
            <a:endParaRPr sz="92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301" name="Google Shape;301;p20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302" name="Google Shape;302;p20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3" name="Google Shape;303;p20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BLA_02                                                                               09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8" name="Google Shape;308;p21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21"/>
          <p:cNvSpPr txBox="1"/>
          <p:nvPr/>
        </p:nvSpPr>
        <p:spPr>
          <a:xfrm>
            <a:off x="365760" y="408051"/>
            <a:ext cx="5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3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815816" y="243459"/>
            <a:ext cx="63630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Documentation, phase gates and late change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311" name="Google Shape;311;p21"/>
          <p:cNvCxnSpPr/>
          <p:nvPr/>
        </p:nvCxnSpPr>
        <p:spPr>
          <a:xfrm>
            <a:off x="457200" y="891518"/>
            <a:ext cx="2590800" cy="0"/>
          </a:xfrm>
          <a:prstGeom prst="straightConnector1">
            <a:avLst/>
          </a:prstGeom>
          <a:noFill/>
          <a:ln cap="flat" cmpd="sng" w="292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312" name="Google Shape;312;p21" title="Ploxs rendered HTML elemen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20105"/>
            <a:ext cx="328613" cy="32861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1"/>
          <p:cNvSpPr txBox="1"/>
          <p:nvPr/>
        </p:nvSpPr>
        <p:spPr>
          <a:xfrm>
            <a:off x="365760" y="1375007"/>
            <a:ext cx="17652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6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Documentation</a:t>
            </a:r>
            <a:endParaRPr b="1" sz="146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314" name="Google Shape;314;p21"/>
          <p:cNvGrpSpPr/>
          <p:nvPr/>
        </p:nvGrpSpPr>
        <p:grpSpPr>
          <a:xfrm>
            <a:off x="365760" y="1759818"/>
            <a:ext cx="2773500" cy="651977"/>
            <a:chOff x="365760" y="1759818"/>
            <a:chExt cx="2773500" cy="651977"/>
          </a:xfrm>
        </p:grpSpPr>
        <p:cxnSp>
          <p:nvCxnSpPr>
            <p:cNvPr id="315" name="Google Shape;315;p21"/>
            <p:cNvCxnSpPr/>
            <p:nvPr/>
          </p:nvCxnSpPr>
          <p:spPr>
            <a:xfrm>
              <a:off x="457200" y="1759818"/>
              <a:ext cx="25908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6" name="Google Shape;316;p21"/>
            <p:cNvSpPr txBox="1"/>
            <p:nvPr/>
          </p:nvSpPr>
          <p:spPr>
            <a:xfrm>
              <a:off x="365760" y="1803395"/>
              <a:ext cx="2773500" cy="60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Primary communication medium</a:t>
              </a:r>
              <a:endParaRPr b="1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20800"/>
                </a:lnSpc>
                <a:spcBef>
                  <a:spcPts val="33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Documents act as the contract and reference across sequential teams.</a:t>
              </a:r>
              <a:endParaRPr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317" name="Google Shape;317;p21"/>
          <p:cNvGrpSpPr/>
          <p:nvPr/>
        </p:nvGrpSpPr>
        <p:grpSpPr>
          <a:xfrm>
            <a:off x="365760" y="2455441"/>
            <a:ext cx="2773500" cy="651977"/>
            <a:chOff x="365760" y="2455441"/>
            <a:chExt cx="2773500" cy="651977"/>
          </a:xfrm>
        </p:grpSpPr>
        <p:cxnSp>
          <p:nvCxnSpPr>
            <p:cNvPr id="318" name="Google Shape;318;p21"/>
            <p:cNvCxnSpPr/>
            <p:nvPr/>
          </p:nvCxnSpPr>
          <p:spPr>
            <a:xfrm>
              <a:off x="457200" y="2455441"/>
              <a:ext cx="25908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9" name="Google Shape;319;p21"/>
            <p:cNvSpPr txBox="1"/>
            <p:nvPr/>
          </p:nvSpPr>
          <p:spPr>
            <a:xfrm>
              <a:off x="365760" y="2499018"/>
              <a:ext cx="2773500" cy="60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Basis for sign-off</a:t>
              </a:r>
              <a:endParaRPr b="1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20800"/>
                </a:lnSpc>
                <a:spcBef>
                  <a:spcPts val="33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Each phase hands the next a complete, written deliverable.</a:t>
              </a:r>
              <a:endParaRPr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20" name="Google Shape;320;p21"/>
          <p:cNvCxnSpPr/>
          <p:nvPr/>
        </p:nvCxnSpPr>
        <p:spPr>
          <a:xfrm>
            <a:off x="3276526" y="891518"/>
            <a:ext cx="2590800" cy="0"/>
          </a:xfrm>
          <a:prstGeom prst="straightConnector1">
            <a:avLst/>
          </a:prstGeom>
          <a:noFill/>
          <a:ln cap="flat" cmpd="sng" w="292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321" name="Google Shape;321;p21" title="Ploxs rendered HTML elemen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6526" y="1020105"/>
            <a:ext cx="328613" cy="328613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1"/>
          <p:cNvSpPr txBox="1"/>
          <p:nvPr/>
        </p:nvSpPr>
        <p:spPr>
          <a:xfrm>
            <a:off x="3185086" y="1375007"/>
            <a:ext cx="19866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6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completion</a:t>
            </a:r>
            <a:endParaRPr b="1" sz="146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323" name="Google Shape;323;p21"/>
          <p:cNvGrpSpPr/>
          <p:nvPr/>
        </p:nvGrpSpPr>
        <p:grpSpPr>
          <a:xfrm>
            <a:off x="3185086" y="1759818"/>
            <a:ext cx="2773800" cy="651977"/>
            <a:chOff x="3185086" y="1759818"/>
            <a:chExt cx="2773800" cy="651977"/>
          </a:xfrm>
        </p:grpSpPr>
        <p:cxnSp>
          <p:nvCxnSpPr>
            <p:cNvPr id="324" name="Google Shape;324;p21"/>
            <p:cNvCxnSpPr/>
            <p:nvPr/>
          </p:nvCxnSpPr>
          <p:spPr>
            <a:xfrm>
              <a:off x="3276526" y="1759818"/>
              <a:ext cx="25908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5" name="Google Shape;325;p21"/>
            <p:cNvSpPr txBox="1"/>
            <p:nvPr/>
          </p:nvSpPr>
          <p:spPr>
            <a:xfrm>
              <a:off x="3185086" y="1803395"/>
              <a:ext cx="2773800" cy="60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Reviewed and signed off</a:t>
              </a:r>
              <a:endParaRPr b="1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20800"/>
                </a:lnSpc>
                <a:spcBef>
                  <a:spcPts val="33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Each stage is fully reviewed before the next begins.</a:t>
              </a:r>
              <a:endParaRPr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326" name="Google Shape;326;p21"/>
          <p:cNvGrpSpPr/>
          <p:nvPr/>
        </p:nvGrpSpPr>
        <p:grpSpPr>
          <a:xfrm>
            <a:off x="3185086" y="2455441"/>
            <a:ext cx="2773800" cy="651977"/>
            <a:chOff x="3185086" y="2455441"/>
            <a:chExt cx="2773800" cy="651977"/>
          </a:xfrm>
        </p:grpSpPr>
        <p:cxnSp>
          <p:nvCxnSpPr>
            <p:cNvPr id="327" name="Google Shape;327;p21"/>
            <p:cNvCxnSpPr/>
            <p:nvPr/>
          </p:nvCxnSpPr>
          <p:spPr>
            <a:xfrm>
              <a:off x="3276526" y="2455441"/>
              <a:ext cx="25908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8" name="Google Shape;328;p21"/>
            <p:cNvSpPr txBox="1"/>
            <p:nvPr/>
          </p:nvSpPr>
          <p:spPr>
            <a:xfrm>
              <a:off x="3185086" y="2499018"/>
              <a:ext cx="2773800" cy="60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Stops defects cascading</a:t>
              </a:r>
              <a:endParaRPr b="1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20800"/>
                </a:lnSpc>
                <a:spcBef>
                  <a:spcPts val="33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Problems are caught at the gate, not passed downstream.</a:t>
              </a:r>
              <a:endParaRPr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29" name="Google Shape;329;p21"/>
          <p:cNvCxnSpPr/>
          <p:nvPr/>
        </p:nvCxnSpPr>
        <p:spPr>
          <a:xfrm>
            <a:off x="6095963" y="891518"/>
            <a:ext cx="2590800" cy="0"/>
          </a:xfrm>
          <a:prstGeom prst="straightConnector1">
            <a:avLst/>
          </a:prstGeom>
          <a:noFill/>
          <a:ln cap="flat" cmpd="sng" w="29200">
            <a:solidFill>
              <a:srgbClr val="C2662D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330" name="Google Shape;330;p21" title="Ploxs rendered HTML elemen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963" y="1020105"/>
            <a:ext cx="328613" cy="328613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1"/>
          <p:cNvSpPr txBox="1"/>
          <p:nvPr/>
        </p:nvSpPr>
        <p:spPr>
          <a:xfrm>
            <a:off x="6004523" y="1396220"/>
            <a:ext cx="21510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6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When requirements</a:t>
            </a:r>
            <a:endParaRPr b="1" sz="146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9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6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change late</a:t>
            </a:r>
            <a:endParaRPr b="1" sz="146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332" name="Google Shape;332;p21"/>
          <p:cNvGrpSpPr/>
          <p:nvPr/>
        </p:nvGrpSpPr>
        <p:grpSpPr>
          <a:xfrm>
            <a:off x="6004523" y="1981609"/>
            <a:ext cx="2773500" cy="651977"/>
            <a:chOff x="6004523" y="1981609"/>
            <a:chExt cx="2773500" cy="651977"/>
          </a:xfrm>
        </p:grpSpPr>
        <p:cxnSp>
          <p:nvCxnSpPr>
            <p:cNvPr id="333" name="Google Shape;333;p21"/>
            <p:cNvCxnSpPr/>
            <p:nvPr/>
          </p:nvCxnSpPr>
          <p:spPr>
            <a:xfrm>
              <a:off x="6095963" y="1981609"/>
              <a:ext cx="25908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4" name="Google Shape;334;p21"/>
            <p:cNvSpPr txBox="1"/>
            <p:nvPr/>
          </p:nvSpPr>
          <p:spPr>
            <a:xfrm>
              <a:off x="6004523" y="2025186"/>
              <a:ext cx="2773500" cy="60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High cost and delay</a:t>
              </a:r>
              <a:endParaRPr b="1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20800"/>
                </a:lnSpc>
                <a:spcBef>
                  <a:spcPts val="33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Teams must re-evaluate earlier phases, re-architect components and rewrite code.</a:t>
              </a:r>
              <a:endParaRPr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335" name="Google Shape;335;p21"/>
          <p:cNvGrpSpPr/>
          <p:nvPr/>
        </p:nvGrpSpPr>
        <p:grpSpPr>
          <a:xfrm>
            <a:off x="6004523" y="2677232"/>
            <a:ext cx="2773500" cy="651977"/>
            <a:chOff x="6004523" y="2677232"/>
            <a:chExt cx="2773500" cy="651977"/>
          </a:xfrm>
        </p:grpSpPr>
        <p:cxnSp>
          <p:nvCxnSpPr>
            <p:cNvPr id="336" name="Google Shape;336;p21"/>
            <p:cNvCxnSpPr/>
            <p:nvPr/>
          </p:nvCxnSpPr>
          <p:spPr>
            <a:xfrm>
              <a:off x="6095963" y="2677232"/>
              <a:ext cx="25908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7" name="Google Shape;337;p21"/>
            <p:cNvSpPr txBox="1"/>
            <p:nvPr/>
          </p:nvSpPr>
          <p:spPr>
            <a:xfrm>
              <a:off x="6004523" y="2720809"/>
              <a:ext cx="2773500" cy="60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Scope and schedule disruption</a:t>
              </a:r>
              <a:endParaRPr b="1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20800"/>
                </a:lnSpc>
                <a:spcBef>
                  <a:spcPts val="33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Earlier documentation is invalidated, deadlines slip and total cost grows.</a:t>
              </a:r>
              <a:endParaRPr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338" name="Google Shape;338;p21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339" name="Google Shape;339;p21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0" name="Google Shape;340;p21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BLA_02                                                                               10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5" name="Google Shape;345;p22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22"/>
          <p:cNvSpPr txBox="1"/>
          <p:nvPr/>
        </p:nvSpPr>
        <p:spPr>
          <a:xfrm>
            <a:off x="365760" y="408051"/>
            <a:ext cx="5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4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815816" y="243459"/>
            <a:ext cx="36546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Incremental development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348" name="Google Shape;348;p22"/>
          <p:cNvCxnSpPr/>
          <p:nvPr/>
        </p:nvCxnSpPr>
        <p:spPr>
          <a:xfrm>
            <a:off x="457200" y="880802"/>
            <a:ext cx="35232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22"/>
          <p:cNvSpPr txBox="1"/>
          <p:nvPr/>
        </p:nvSpPr>
        <p:spPr>
          <a:xfrm>
            <a:off x="365760" y="1174495"/>
            <a:ext cx="2224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8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rPr>
              <a:t>Break the system into pieces</a:t>
            </a:r>
            <a:endParaRPr b="1" sz="1080">
              <a:solidFill>
                <a:srgbClr val="1F6F5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0" name="Google Shape;350;p22"/>
          <p:cNvSpPr txBox="1"/>
          <p:nvPr/>
        </p:nvSpPr>
        <p:spPr>
          <a:xfrm>
            <a:off x="365760" y="1386021"/>
            <a:ext cx="37257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Functionality is built through successive releases; each delivers a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usable subset.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51" name="Google Shape;351;p22"/>
          <p:cNvCxnSpPr/>
          <p:nvPr/>
        </p:nvCxnSpPr>
        <p:spPr>
          <a:xfrm>
            <a:off x="457200" y="2114773"/>
            <a:ext cx="35232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22"/>
          <p:cNvSpPr txBox="1"/>
          <p:nvPr/>
        </p:nvSpPr>
        <p:spPr>
          <a:xfrm>
            <a:off x="365760" y="2408466"/>
            <a:ext cx="18975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8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Interleave the activities</a:t>
            </a:r>
            <a:endParaRPr b="1" sz="1080">
              <a:solidFill>
                <a:srgbClr val="1F6F5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365760" y="2619993"/>
            <a:ext cx="37629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team specifies the next feature while developing current ones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 validating finished ones.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354" name="Google Shape;354;p22"/>
          <p:cNvGrpSpPr/>
          <p:nvPr/>
        </p:nvGrpSpPr>
        <p:grpSpPr>
          <a:xfrm>
            <a:off x="457200" y="3348744"/>
            <a:ext cx="3523200" cy="1233972"/>
            <a:chOff x="457200" y="3348744"/>
            <a:chExt cx="3523200" cy="1233972"/>
          </a:xfrm>
        </p:grpSpPr>
        <p:cxnSp>
          <p:nvCxnSpPr>
            <p:cNvPr id="355" name="Google Shape;355;p22"/>
            <p:cNvCxnSpPr/>
            <p:nvPr/>
          </p:nvCxnSpPr>
          <p:spPr>
            <a:xfrm>
              <a:off x="457200" y="3348744"/>
              <a:ext cx="35232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22"/>
            <p:cNvCxnSpPr/>
            <p:nvPr/>
          </p:nvCxnSpPr>
          <p:spPr>
            <a:xfrm>
              <a:off x="457200" y="4582716"/>
              <a:ext cx="35232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22"/>
          <p:cNvSpPr txBox="1"/>
          <p:nvPr/>
        </p:nvSpPr>
        <p:spPr>
          <a:xfrm>
            <a:off x="365760" y="3642437"/>
            <a:ext cx="21729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8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Customer feedback steers it</a:t>
            </a:r>
            <a:endParaRPr b="1" sz="1080">
              <a:solidFill>
                <a:srgbClr val="1F6F5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365760" y="3853964"/>
            <a:ext cx="38148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Customers evaluate working software after each release; feedback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shapes and prioritizes later increments.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4289018" y="834939"/>
            <a:ext cx="23271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GROWING BASELINE ACROSS RELEASES</a:t>
            </a:r>
            <a:endParaRPr b="1" sz="65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60" name="Google Shape;360;p22"/>
          <p:cNvCxnSpPr/>
          <p:nvPr/>
        </p:nvCxnSpPr>
        <p:spPr>
          <a:xfrm>
            <a:off x="4380458" y="4104866"/>
            <a:ext cx="4306200" cy="0"/>
          </a:xfrm>
          <a:prstGeom prst="straightConnector1">
            <a:avLst/>
          </a:prstGeom>
          <a:noFill/>
          <a:ln cap="flat" cmpd="sng" w="1397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1" name="Google Shape;361;p22"/>
          <p:cNvGrpSpPr/>
          <p:nvPr/>
        </p:nvGrpSpPr>
        <p:grpSpPr>
          <a:xfrm>
            <a:off x="4380458" y="3726247"/>
            <a:ext cx="969300" cy="371400"/>
            <a:chOff x="4380458" y="3726247"/>
            <a:chExt cx="969300" cy="371400"/>
          </a:xfrm>
        </p:grpSpPr>
        <p:sp>
          <p:nvSpPr>
            <p:cNvPr id="362" name="Google Shape;362;p22"/>
            <p:cNvSpPr/>
            <p:nvPr/>
          </p:nvSpPr>
          <p:spPr>
            <a:xfrm>
              <a:off x="4380458" y="3726247"/>
              <a:ext cx="969300" cy="371400"/>
            </a:xfrm>
            <a:prstGeom prst="rect">
              <a:avLst/>
            </a:prstGeom>
            <a:solidFill>
              <a:srgbClr val="1F6F5F"/>
            </a:solidFill>
            <a:ln cap="flat" cmpd="sng" w="7625">
              <a:solidFill>
                <a:srgbClr val="1F6F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2"/>
            <p:cNvSpPr txBox="1"/>
            <p:nvPr/>
          </p:nvSpPr>
          <p:spPr>
            <a:xfrm>
              <a:off x="4381887" y="3802114"/>
              <a:ext cx="800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Increment 1</a:t>
              </a:r>
              <a:endParaRPr sz="70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</p:grpSp>
      <p:grpSp>
        <p:nvGrpSpPr>
          <p:cNvPr id="364" name="Google Shape;364;p22"/>
          <p:cNvGrpSpPr/>
          <p:nvPr/>
        </p:nvGrpSpPr>
        <p:grpSpPr>
          <a:xfrm>
            <a:off x="5492762" y="3311909"/>
            <a:ext cx="969300" cy="371400"/>
            <a:chOff x="5492762" y="3311909"/>
            <a:chExt cx="969300" cy="371400"/>
          </a:xfrm>
        </p:grpSpPr>
        <p:sp>
          <p:nvSpPr>
            <p:cNvPr id="365" name="Google Shape;365;p22"/>
            <p:cNvSpPr/>
            <p:nvPr/>
          </p:nvSpPr>
          <p:spPr>
            <a:xfrm>
              <a:off x="5492762" y="3311909"/>
              <a:ext cx="969300" cy="371400"/>
            </a:xfrm>
            <a:prstGeom prst="rect">
              <a:avLst/>
            </a:prstGeom>
            <a:solidFill>
              <a:srgbClr val="1F6F5F"/>
            </a:solidFill>
            <a:ln cap="flat" cmpd="sng" w="7625">
              <a:solidFill>
                <a:srgbClr val="1F6F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2"/>
            <p:cNvSpPr txBox="1"/>
            <p:nvPr/>
          </p:nvSpPr>
          <p:spPr>
            <a:xfrm>
              <a:off x="5494191" y="3387776"/>
              <a:ext cx="800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Increment 2</a:t>
              </a:r>
              <a:endParaRPr sz="70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</p:grpSp>
      <p:grpSp>
        <p:nvGrpSpPr>
          <p:cNvPr id="367" name="Google Shape;367;p22"/>
          <p:cNvGrpSpPr/>
          <p:nvPr/>
        </p:nvGrpSpPr>
        <p:grpSpPr>
          <a:xfrm>
            <a:off x="5492762" y="3726247"/>
            <a:ext cx="969300" cy="371400"/>
            <a:chOff x="5492762" y="3726247"/>
            <a:chExt cx="969300" cy="371400"/>
          </a:xfrm>
        </p:grpSpPr>
        <p:sp>
          <p:nvSpPr>
            <p:cNvPr id="368" name="Google Shape;368;p22"/>
            <p:cNvSpPr/>
            <p:nvPr/>
          </p:nvSpPr>
          <p:spPr>
            <a:xfrm>
              <a:off x="5492762" y="3726247"/>
              <a:ext cx="969300" cy="371400"/>
            </a:xfrm>
            <a:prstGeom prst="rect">
              <a:avLst/>
            </a:prstGeom>
            <a:solidFill>
              <a:srgbClr val="D7E6E1"/>
            </a:solidFill>
            <a:ln cap="flat" cmpd="sng" w="7625">
              <a:solidFill>
                <a:srgbClr val="9CC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2"/>
            <p:cNvSpPr txBox="1"/>
            <p:nvPr/>
          </p:nvSpPr>
          <p:spPr>
            <a:xfrm>
              <a:off x="5494191" y="3802114"/>
              <a:ext cx="800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F2528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Increment 1</a:t>
              </a:r>
              <a:endParaRPr sz="700">
                <a:solidFill>
                  <a:srgbClr val="1F252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</p:grpSp>
      <p:grpSp>
        <p:nvGrpSpPr>
          <p:cNvPr id="370" name="Google Shape;370;p22"/>
          <p:cNvGrpSpPr/>
          <p:nvPr/>
        </p:nvGrpSpPr>
        <p:grpSpPr>
          <a:xfrm>
            <a:off x="6605067" y="2897572"/>
            <a:ext cx="969300" cy="371400"/>
            <a:chOff x="6605067" y="2897572"/>
            <a:chExt cx="969300" cy="371400"/>
          </a:xfrm>
        </p:grpSpPr>
        <p:sp>
          <p:nvSpPr>
            <p:cNvPr id="371" name="Google Shape;371;p22"/>
            <p:cNvSpPr/>
            <p:nvPr/>
          </p:nvSpPr>
          <p:spPr>
            <a:xfrm>
              <a:off x="6605067" y="2897572"/>
              <a:ext cx="969300" cy="371400"/>
            </a:xfrm>
            <a:prstGeom prst="rect">
              <a:avLst/>
            </a:prstGeom>
            <a:solidFill>
              <a:srgbClr val="1F6F5F"/>
            </a:solidFill>
            <a:ln cap="flat" cmpd="sng" w="7625">
              <a:solidFill>
                <a:srgbClr val="1F6F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2"/>
            <p:cNvSpPr txBox="1"/>
            <p:nvPr/>
          </p:nvSpPr>
          <p:spPr>
            <a:xfrm>
              <a:off x="6606495" y="2973439"/>
              <a:ext cx="800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Increment 3</a:t>
              </a:r>
              <a:endParaRPr sz="70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</p:grpSp>
      <p:grpSp>
        <p:nvGrpSpPr>
          <p:cNvPr id="373" name="Google Shape;373;p22"/>
          <p:cNvGrpSpPr/>
          <p:nvPr/>
        </p:nvGrpSpPr>
        <p:grpSpPr>
          <a:xfrm>
            <a:off x="6605067" y="3311909"/>
            <a:ext cx="969300" cy="371400"/>
            <a:chOff x="6605067" y="3311909"/>
            <a:chExt cx="969300" cy="371400"/>
          </a:xfrm>
        </p:grpSpPr>
        <p:sp>
          <p:nvSpPr>
            <p:cNvPr id="374" name="Google Shape;374;p22"/>
            <p:cNvSpPr/>
            <p:nvPr/>
          </p:nvSpPr>
          <p:spPr>
            <a:xfrm>
              <a:off x="6605067" y="3311909"/>
              <a:ext cx="969300" cy="371400"/>
            </a:xfrm>
            <a:prstGeom prst="rect">
              <a:avLst/>
            </a:prstGeom>
            <a:solidFill>
              <a:srgbClr val="D7E6E1"/>
            </a:solidFill>
            <a:ln cap="flat" cmpd="sng" w="7625">
              <a:solidFill>
                <a:srgbClr val="9CC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2"/>
            <p:cNvSpPr txBox="1"/>
            <p:nvPr/>
          </p:nvSpPr>
          <p:spPr>
            <a:xfrm>
              <a:off x="6606495" y="3387776"/>
              <a:ext cx="800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F2528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Increment 2</a:t>
              </a:r>
              <a:endParaRPr sz="700">
                <a:solidFill>
                  <a:srgbClr val="1F252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</p:grpSp>
      <p:grpSp>
        <p:nvGrpSpPr>
          <p:cNvPr id="376" name="Google Shape;376;p22"/>
          <p:cNvGrpSpPr/>
          <p:nvPr/>
        </p:nvGrpSpPr>
        <p:grpSpPr>
          <a:xfrm>
            <a:off x="6605067" y="3726247"/>
            <a:ext cx="969300" cy="371400"/>
            <a:chOff x="6605067" y="3726247"/>
            <a:chExt cx="969300" cy="371400"/>
          </a:xfrm>
        </p:grpSpPr>
        <p:sp>
          <p:nvSpPr>
            <p:cNvPr id="377" name="Google Shape;377;p22"/>
            <p:cNvSpPr/>
            <p:nvPr/>
          </p:nvSpPr>
          <p:spPr>
            <a:xfrm>
              <a:off x="6605067" y="3726247"/>
              <a:ext cx="969300" cy="371400"/>
            </a:xfrm>
            <a:prstGeom prst="rect">
              <a:avLst/>
            </a:prstGeom>
            <a:solidFill>
              <a:srgbClr val="D7E6E1"/>
            </a:solidFill>
            <a:ln cap="flat" cmpd="sng" w="7625">
              <a:solidFill>
                <a:srgbClr val="9CC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2"/>
            <p:cNvSpPr txBox="1"/>
            <p:nvPr/>
          </p:nvSpPr>
          <p:spPr>
            <a:xfrm>
              <a:off x="6606495" y="3802114"/>
              <a:ext cx="800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F2528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Increment 1</a:t>
              </a:r>
              <a:endParaRPr sz="700">
                <a:solidFill>
                  <a:srgbClr val="1F252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</p:grpSp>
      <p:grpSp>
        <p:nvGrpSpPr>
          <p:cNvPr id="379" name="Google Shape;379;p22"/>
          <p:cNvGrpSpPr/>
          <p:nvPr/>
        </p:nvGrpSpPr>
        <p:grpSpPr>
          <a:xfrm>
            <a:off x="7717371" y="2483234"/>
            <a:ext cx="969300" cy="371400"/>
            <a:chOff x="7717371" y="2483234"/>
            <a:chExt cx="969300" cy="371400"/>
          </a:xfrm>
        </p:grpSpPr>
        <p:sp>
          <p:nvSpPr>
            <p:cNvPr id="380" name="Google Shape;380;p22"/>
            <p:cNvSpPr/>
            <p:nvPr/>
          </p:nvSpPr>
          <p:spPr>
            <a:xfrm>
              <a:off x="7717371" y="2483234"/>
              <a:ext cx="969300" cy="371400"/>
            </a:xfrm>
            <a:prstGeom prst="rect">
              <a:avLst/>
            </a:prstGeom>
            <a:solidFill>
              <a:srgbClr val="1F6F5F"/>
            </a:solidFill>
            <a:ln cap="flat" cmpd="sng" w="7625">
              <a:solidFill>
                <a:srgbClr val="1F6F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2"/>
            <p:cNvSpPr txBox="1"/>
            <p:nvPr/>
          </p:nvSpPr>
          <p:spPr>
            <a:xfrm>
              <a:off x="7718800" y="2559101"/>
              <a:ext cx="800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Increment 4</a:t>
              </a:r>
              <a:endParaRPr sz="70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</p:grpSp>
      <p:grpSp>
        <p:nvGrpSpPr>
          <p:cNvPr id="382" name="Google Shape;382;p22"/>
          <p:cNvGrpSpPr/>
          <p:nvPr/>
        </p:nvGrpSpPr>
        <p:grpSpPr>
          <a:xfrm>
            <a:off x="7717371" y="2897572"/>
            <a:ext cx="969300" cy="371400"/>
            <a:chOff x="7717371" y="2897572"/>
            <a:chExt cx="969300" cy="371400"/>
          </a:xfrm>
        </p:grpSpPr>
        <p:sp>
          <p:nvSpPr>
            <p:cNvPr id="383" name="Google Shape;383;p22"/>
            <p:cNvSpPr/>
            <p:nvPr/>
          </p:nvSpPr>
          <p:spPr>
            <a:xfrm>
              <a:off x="7717371" y="2897572"/>
              <a:ext cx="969300" cy="371400"/>
            </a:xfrm>
            <a:prstGeom prst="rect">
              <a:avLst/>
            </a:prstGeom>
            <a:solidFill>
              <a:srgbClr val="D7E6E1"/>
            </a:solidFill>
            <a:ln cap="flat" cmpd="sng" w="7625">
              <a:solidFill>
                <a:srgbClr val="9CC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2"/>
            <p:cNvSpPr txBox="1"/>
            <p:nvPr/>
          </p:nvSpPr>
          <p:spPr>
            <a:xfrm>
              <a:off x="7718800" y="2973439"/>
              <a:ext cx="800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F2528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Increment 3</a:t>
              </a:r>
              <a:endParaRPr sz="700">
                <a:solidFill>
                  <a:srgbClr val="1F252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</p:grpSp>
      <p:grpSp>
        <p:nvGrpSpPr>
          <p:cNvPr id="385" name="Google Shape;385;p22"/>
          <p:cNvGrpSpPr/>
          <p:nvPr/>
        </p:nvGrpSpPr>
        <p:grpSpPr>
          <a:xfrm>
            <a:off x="7717371" y="3311909"/>
            <a:ext cx="969300" cy="371400"/>
            <a:chOff x="7717371" y="3311909"/>
            <a:chExt cx="969300" cy="371400"/>
          </a:xfrm>
        </p:grpSpPr>
        <p:sp>
          <p:nvSpPr>
            <p:cNvPr id="386" name="Google Shape;386;p22"/>
            <p:cNvSpPr/>
            <p:nvPr/>
          </p:nvSpPr>
          <p:spPr>
            <a:xfrm>
              <a:off x="7717371" y="3311909"/>
              <a:ext cx="969300" cy="371400"/>
            </a:xfrm>
            <a:prstGeom prst="rect">
              <a:avLst/>
            </a:prstGeom>
            <a:solidFill>
              <a:srgbClr val="D7E6E1"/>
            </a:solidFill>
            <a:ln cap="flat" cmpd="sng" w="7625">
              <a:solidFill>
                <a:srgbClr val="9CC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2"/>
            <p:cNvSpPr txBox="1"/>
            <p:nvPr/>
          </p:nvSpPr>
          <p:spPr>
            <a:xfrm>
              <a:off x="7718800" y="3387776"/>
              <a:ext cx="800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F2528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Increment 2</a:t>
              </a:r>
              <a:endParaRPr sz="700">
                <a:solidFill>
                  <a:srgbClr val="1F252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</p:grpSp>
      <p:grpSp>
        <p:nvGrpSpPr>
          <p:cNvPr id="388" name="Google Shape;388;p22"/>
          <p:cNvGrpSpPr/>
          <p:nvPr/>
        </p:nvGrpSpPr>
        <p:grpSpPr>
          <a:xfrm>
            <a:off x="7717371" y="3726247"/>
            <a:ext cx="969300" cy="371400"/>
            <a:chOff x="7717371" y="3726247"/>
            <a:chExt cx="969300" cy="371400"/>
          </a:xfrm>
        </p:grpSpPr>
        <p:sp>
          <p:nvSpPr>
            <p:cNvPr id="389" name="Google Shape;389;p22"/>
            <p:cNvSpPr/>
            <p:nvPr/>
          </p:nvSpPr>
          <p:spPr>
            <a:xfrm>
              <a:off x="7717371" y="3726247"/>
              <a:ext cx="969300" cy="371400"/>
            </a:xfrm>
            <a:prstGeom prst="rect">
              <a:avLst/>
            </a:prstGeom>
            <a:solidFill>
              <a:srgbClr val="D7E6E1"/>
            </a:solidFill>
            <a:ln cap="flat" cmpd="sng" w="7625">
              <a:solidFill>
                <a:srgbClr val="9CC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2"/>
            <p:cNvSpPr txBox="1"/>
            <p:nvPr/>
          </p:nvSpPr>
          <p:spPr>
            <a:xfrm>
              <a:off x="7718800" y="3802114"/>
              <a:ext cx="800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F2528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Increment 1</a:t>
              </a:r>
              <a:endParaRPr sz="700">
                <a:solidFill>
                  <a:srgbClr val="1F252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</p:grpSp>
      <p:sp>
        <p:nvSpPr>
          <p:cNvPr id="391" name="Google Shape;391;p22"/>
          <p:cNvSpPr txBox="1"/>
          <p:nvPr/>
        </p:nvSpPr>
        <p:spPr>
          <a:xfrm>
            <a:off x="4289018" y="4120296"/>
            <a:ext cx="711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1F252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Release 1</a:t>
            </a:r>
            <a:endParaRPr sz="760">
              <a:solidFill>
                <a:srgbClr val="1F2528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5401322" y="4120296"/>
            <a:ext cx="711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1F252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Release 2</a:t>
            </a:r>
            <a:endParaRPr sz="760">
              <a:solidFill>
                <a:srgbClr val="1F2528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6513627" y="4120296"/>
            <a:ext cx="711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1F252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Release 3</a:t>
            </a:r>
            <a:endParaRPr sz="760">
              <a:solidFill>
                <a:srgbClr val="1F2528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7625931" y="4120296"/>
            <a:ext cx="711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1F252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Release 4</a:t>
            </a:r>
            <a:endParaRPr sz="760">
              <a:solidFill>
                <a:srgbClr val="1F2528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grpSp>
        <p:nvGrpSpPr>
          <p:cNvPr id="395" name="Google Shape;395;p22"/>
          <p:cNvGrpSpPr/>
          <p:nvPr/>
        </p:nvGrpSpPr>
        <p:grpSpPr>
          <a:xfrm>
            <a:off x="4391174" y="4361755"/>
            <a:ext cx="3789388" cy="260400"/>
            <a:chOff x="4391174" y="4361755"/>
            <a:chExt cx="3789388" cy="260400"/>
          </a:xfrm>
        </p:grpSpPr>
        <p:cxnSp>
          <p:nvCxnSpPr>
            <p:cNvPr id="396" name="Google Shape;396;p22"/>
            <p:cNvCxnSpPr/>
            <p:nvPr/>
          </p:nvCxnSpPr>
          <p:spPr>
            <a:xfrm>
              <a:off x="4391174" y="4397759"/>
              <a:ext cx="0" cy="188400"/>
            </a:xfrm>
            <a:prstGeom prst="straightConnector1">
              <a:avLst/>
            </a:prstGeom>
            <a:noFill/>
            <a:ln cap="flat" cmpd="sng" w="21600">
              <a:solidFill>
                <a:srgbClr val="C2662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7" name="Google Shape;397;p22"/>
            <p:cNvSpPr txBox="1"/>
            <p:nvPr/>
          </p:nvSpPr>
          <p:spPr>
            <a:xfrm>
              <a:off x="4410462" y="4361755"/>
              <a:ext cx="37701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67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Customer feedback after each release shapes the next increment.</a:t>
              </a:r>
              <a:endParaRPr sz="86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398" name="Google Shape;398;p22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399" name="Google Shape;399;p22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0" name="Google Shape;400;p22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BLA_02                                                                               12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5" name="Google Shape;405;p23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23"/>
          <p:cNvSpPr txBox="1"/>
          <p:nvPr/>
        </p:nvSpPr>
        <p:spPr>
          <a:xfrm>
            <a:off x="365760" y="408051"/>
            <a:ext cx="5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4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7" name="Google Shape;407;p23"/>
          <p:cNvSpPr txBox="1"/>
          <p:nvPr/>
        </p:nvSpPr>
        <p:spPr>
          <a:xfrm>
            <a:off x="815816" y="243459"/>
            <a:ext cx="58803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increments lower the cost of change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8" name="Google Shape;408;p23"/>
          <p:cNvSpPr txBox="1"/>
          <p:nvPr/>
        </p:nvSpPr>
        <p:spPr>
          <a:xfrm>
            <a:off x="365760" y="1968667"/>
            <a:ext cx="46977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7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Small increments</a:t>
            </a:r>
            <a:endParaRPr b="1" sz="367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8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7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keep change</a:t>
            </a:r>
            <a:r>
              <a:rPr b="1" lang="en" sz="367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rPr>
              <a:t> local</a:t>
            </a:r>
            <a:r>
              <a:rPr b="1" lang="en" sz="367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1" sz="367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9" name="Google Shape;409;p23"/>
          <p:cNvSpPr txBox="1"/>
          <p:nvPr/>
        </p:nvSpPr>
        <p:spPr>
          <a:xfrm>
            <a:off x="365760" y="3065708"/>
            <a:ext cx="30717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Incremental delivery also puts useful functionality</a:t>
            </a:r>
            <a:endParaRPr sz="92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in front of customers earlier.</a:t>
            </a:r>
            <a:endParaRPr sz="92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10" name="Google Shape;410;p23"/>
          <p:cNvCxnSpPr/>
          <p:nvPr/>
        </p:nvCxnSpPr>
        <p:spPr>
          <a:xfrm>
            <a:off x="4985556" y="880802"/>
            <a:ext cx="37011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411" name="Google Shape;411;p23" title="Ploxs rendered HTML elemen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5556" y="1376288"/>
            <a:ext cx="242888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3"/>
          <p:cNvSpPr txBox="1"/>
          <p:nvPr/>
        </p:nvSpPr>
        <p:spPr>
          <a:xfrm>
            <a:off x="5322741" y="1172709"/>
            <a:ext cx="1843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3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Small, isolated pieces</a:t>
            </a:r>
            <a:endParaRPr b="1" sz="113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3" name="Google Shape;413;p23"/>
          <p:cNvSpPr txBox="1"/>
          <p:nvPr/>
        </p:nvSpPr>
        <p:spPr>
          <a:xfrm>
            <a:off x="5322741" y="1373632"/>
            <a:ext cx="33171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Changes touch a small piece of code rather than an entire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monolithic system.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14" name="Google Shape;414;p23"/>
          <p:cNvCxnSpPr/>
          <p:nvPr/>
        </p:nvCxnSpPr>
        <p:spPr>
          <a:xfrm>
            <a:off x="4985556" y="2114773"/>
            <a:ext cx="37011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415" name="Google Shape;415;p23" title="Ploxs rendered HTML elemen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5556" y="2610259"/>
            <a:ext cx="242888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3"/>
          <p:cNvSpPr txBox="1"/>
          <p:nvPr/>
        </p:nvSpPr>
        <p:spPr>
          <a:xfrm>
            <a:off x="5322741" y="2406680"/>
            <a:ext cx="22992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3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Less documentation rework</a:t>
            </a:r>
            <a:endParaRPr b="1" sz="113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7" name="Google Shape;417;p23"/>
          <p:cNvSpPr txBox="1"/>
          <p:nvPr/>
        </p:nvSpPr>
        <p:spPr>
          <a:xfrm>
            <a:off x="5322741" y="2607603"/>
            <a:ext cx="33987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Little time is wasted revising extensive documents for work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already done.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18" name="Google Shape;418;p23"/>
          <p:cNvGrpSpPr/>
          <p:nvPr/>
        </p:nvGrpSpPr>
        <p:grpSpPr>
          <a:xfrm>
            <a:off x="4985556" y="3348744"/>
            <a:ext cx="3701100" cy="1233972"/>
            <a:chOff x="4985556" y="3348744"/>
            <a:chExt cx="3701100" cy="1233972"/>
          </a:xfrm>
        </p:grpSpPr>
        <p:cxnSp>
          <p:nvCxnSpPr>
            <p:cNvPr id="419" name="Google Shape;419;p23"/>
            <p:cNvCxnSpPr/>
            <p:nvPr/>
          </p:nvCxnSpPr>
          <p:spPr>
            <a:xfrm>
              <a:off x="4985556" y="3348744"/>
              <a:ext cx="37011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23"/>
            <p:cNvCxnSpPr/>
            <p:nvPr/>
          </p:nvCxnSpPr>
          <p:spPr>
            <a:xfrm>
              <a:off x="4985556" y="4582716"/>
              <a:ext cx="37011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ploxs-render-artifact:v1:{&quot;kind&quot;:&quot;paint-raster&quot;}" id="421" name="Google Shape;421;p23" title="Ploxs rendered HTML elemen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5556" y="3844230"/>
            <a:ext cx="242888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3"/>
          <p:cNvSpPr txBox="1"/>
          <p:nvPr/>
        </p:nvSpPr>
        <p:spPr>
          <a:xfrm>
            <a:off x="5322741" y="3640651"/>
            <a:ext cx="2380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3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re-architecting of phases</a:t>
            </a:r>
            <a:endParaRPr b="1" sz="113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5322741" y="3841574"/>
            <a:ext cx="31908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Completed work is extended instead of rebuilt in earlier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phases.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24" name="Google Shape;424;p23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425" name="Google Shape;425;p23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6" name="Google Shape;426;p23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BLA_02                                                                               13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1" name="Google Shape;431;p24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24"/>
          <p:cNvSpPr txBox="1"/>
          <p:nvPr/>
        </p:nvSpPr>
        <p:spPr>
          <a:xfrm>
            <a:off x="365760" y="408051"/>
            <a:ext cx="5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5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3" name="Google Shape;433;p24"/>
          <p:cNvSpPr txBox="1"/>
          <p:nvPr/>
        </p:nvSpPr>
        <p:spPr>
          <a:xfrm>
            <a:off x="815816" y="243459"/>
            <a:ext cx="42309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Integration and configuration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4" name="Google Shape;434;p24"/>
          <p:cNvSpPr txBox="1"/>
          <p:nvPr/>
        </p:nvSpPr>
        <p:spPr>
          <a:xfrm>
            <a:off x="365760" y="827541"/>
            <a:ext cx="57837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8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Build the system by reusing existing software, components, frameworks, services or</a:t>
            </a:r>
            <a:endParaRPr sz="108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8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configurable systems instead of writing everything from scratch.</a:t>
            </a:r>
            <a:endParaRPr sz="108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35" name="Google Shape;435;p24"/>
          <p:cNvCxnSpPr/>
          <p:nvPr/>
        </p:nvCxnSpPr>
        <p:spPr>
          <a:xfrm>
            <a:off x="457200" y="2196703"/>
            <a:ext cx="1543200" cy="0"/>
          </a:xfrm>
          <a:prstGeom prst="straightConnector1">
            <a:avLst/>
          </a:prstGeom>
          <a:noFill/>
          <a:ln cap="flat" cmpd="sng" w="216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6" name="Google Shape;436;p24"/>
          <p:cNvSpPr txBox="1"/>
          <p:nvPr/>
        </p:nvSpPr>
        <p:spPr>
          <a:xfrm>
            <a:off x="365760" y="2265426"/>
            <a:ext cx="372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365760" y="2421722"/>
            <a:ext cx="1200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3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Requirements</a:t>
            </a:r>
            <a:endParaRPr b="1" sz="103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3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specification</a:t>
            </a:r>
            <a:endParaRPr b="1" sz="103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365760" y="2768211"/>
            <a:ext cx="17865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Outline the requirements without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fixing every detail.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39" name="Google Shape;439;p24"/>
          <p:cNvCxnSpPr/>
          <p:nvPr/>
        </p:nvCxnSpPr>
        <p:spPr>
          <a:xfrm>
            <a:off x="2128838" y="2196703"/>
            <a:ext cx="1543200" cy="0"/>
          </a:xfrm>
          <a:prstGeom prst="straightConnector1">
            <a:avLst/>
          </a:prstGeom>
          <a:noFill/>
          <a:ln cap="flat" cmpd="sng" w="216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" name="Google Shape;440;p24"/>
          <p:cNvSpPr txBox="1"/>
          <p:nvPr/>
        </p:nvSpPr>
        <p:spPr>
          <a:xfrm>
            <a:off x="2037398" y="2265426"/>
            <a:ext cx="372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2037398" y="2421722"/>
            <a:ext cx="1222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3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Discovery and</a:t>
            </a:r>
            <a:endParaRPr b="1" sz="103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3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evaluation</a:t>
            </a:r>
            <a:endParaRPr b="1" sz="103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2037398" y="2768211"/>
            <a:ext cx="18162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Find candidate software and judge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how well it fits.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43" name="Google Shape;443;p24"/>
          <p:cNvCxnSpPr/>
          <p:nvPr/>
        </p:nvCxnSpPr>
        <p:spPr>
          <a:xfrm>
            <a:off x="3800475" y="2196703"/>
            <a:ext cx="1543200" cy="0"/>
          </a:xfrm>
          <a:prstGeom prst="straightConnector1">
            <a:avLst/>
          </a:prstGeom>
          <a:noFill/>
          <a:ln cap="flat" cmpd="sng" w="216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" name="Google Shape;444;p24"/>
          <p:cNvSpPr txBox="1"/>
          <p:nvPr/>
        </p:nvSpPr>
        <p:spPr>
          <a:xfrm>
            <a:off x="3709035" y="2265426"/>
            <a:ext cx="372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3709035" y="2421722"/>
            <a:ext cx="1200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3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Requirements</a:t>
            </a:r>
            <a:endParaRPr b="1" sz="103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3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refinement</a:t>
            </a:r>
            <a:endParaRPr b="1" sz="103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3709035" y="2768211"/>
            <a:ext cx="17271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Adjust requirements to what the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discovered software offers.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47" name="Google Shape;447;p24"/>
          <p:cNvCxnSpPr/>
          <p:nvPr/>
        </p:nvCxnSpPr>
        <p:spPr>
          <a:xfrm>
            <a:off x="5472113" y="2196703"/>
            <a:ext cx="1543200" cy="0"/>
          </a:xfrm>
          <a:prstGeom prst="straightConnector1">
            <a:avLst/>
          </a:prstGeom>
          <a:noFill/>
          <a:ln cap="flat" cmpd="sng" w="216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8" name="Google Shape;448;p24"/>
          <p:cNvSpPr txBox="1"/>
          <p:nvPr/>
        </p:nvSpPr>
        <p:spPr>
          <a:xfrm>
            <a:off x="5380673" y="2265426"/>
            <a:ext cx="372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04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5380673" y="2421722"/>
            <a:ext cx="14865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3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Configuration and</a:t>
            </a:r>
            <a:endParaRPr b="1" sz="103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3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adaptation</a:t>
            </a:r>
            <a:endParaRPr b="1" sz="103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50" name="Google Shape;450;p24"/>
          <p:cNvSpPr txBox="1"/>
          <p:nvPr/>
        </p:nvSpPr>
        <p:spPr>
          <a:xfrm>
            <a:off x="5380673" y="2768211"/>
            <a:ext cx="16899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Configure the chosen system or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adapt components to fit.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51" name="Google Shape;451;p24"/>
          <p:cNvCxnSpPr/>
          <p:nvPr/>
        </p:nvCxnSpPr>
        <p:spPr>
          <a:xfrm>
            <a:off x="7143750" y="2196703"/>
            <a:ext cx="1543200" cy="0"/>
          </a:xfrm>
          <a:prstGeom prst="straightConnector1">
            <a:avLst/>
          </a:prstGeom>
          <a:noFill/>
          <a:ln cap="flat" cmpd="sng" w="216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2" name="Google Shape;452;p24"/>
          <p:cNvSpPr txBox="1"/>
          <p:nvPr/>
        </p:nvSpPr>
        <p:spPr>
          <a:xfrm>
            <a:off x="7052310" y="2265426"/>
            <a:ext cx="372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05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3" name="Google Shape;453;p24"/>
          <p:cNvSpPr txBox="1"/>
          <p:nvPr/>
        </p:nvSpPr>
        <p:spPr>
          <a:xfrm>
            <a:off x="7052310" y="2402872"/>
            <a:ext cx="102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3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Integration</a:t>
            </a:r>
            <a:endParaRPr b="1" sz="103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54" name="Google Shape;454;p24"/>
          <p:cNvSpPr txBox="1"/>
          <p:nvPr/>
        </p:nvSpPr>
        <p:spPr>
          <a:xfrm>
            <a:off x="7052310" y="2612164"/>
            <a:ext cx="15858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Connect the components and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services into one system.</a:t>
            </a:r>
            <a:endParaRPr sz="7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55" name="Google Shape;455;p24"/>
          <p:cNvCxnSpPr/>
          <p:nvPr/>
        </p:nvCxnSpPr>
        <p:spPr>
          <a:xfrm>
            <a:off x="457200" y="4007644"/>
            <a:ext cx="40005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456" name="Google Shape;456;p24" title="Ploxs rendered HTML elemen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4096941"/>
            <a:ext cx="228600" cy="22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7" name="Google Shape;457;p24"/>
          <p:cNvGrpSpPr/>
          <p:nvPr/>
        </p:nvGrpSpPr>
        <p:grpSpPr>
          <a:xfrm>
            <a:off x="751523" y="4051221"/>
            <a:ext cx="3903900" cy="431214"/>
            <a:chOff x="751523" y="4051221"/>
            <a:chExt cx="3903900" cy="431214"/>
          </a:xfrm>
        </p:grpSpPr>
        <p:sp>
          <p:nvSpPr>
            <p:cNvPr id="458" name="Google Shape;458;p24"/>
            <p:cNvSpPr txBox="1"/>
            <p:nvPr/>
          </p:nvSpPr>
          <p:spPr>
            <a:xfrm>
              <a:off x="751523" y="4051221"/>
              <a:ext cx="8937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Advantage</a:t>
              </a:r>
              <a:endParaRPr b="1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459" name="Google Shape;459;p24"/>
            <p:cNvSpPr txBox="1"/>
            <p:nvPr/>
          </p:nvSpPr>
          <p:spPr>
            <a:xfrm>
              <a:off x="751523" y="4227135"/>
              <a:ext cx="3903900" cy="25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9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1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Faster delivery at lower cost and risk, because proven software is reused.</a:t>
              </a:r>
              <a:endParaRPr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460" name="Google Shape;460;p24"/>
          <p:cNvCxnSpPr/>
          <p:nvPr/>
        </p:nvCxnSpPr>
        <p:spPr>
          <a:xfrm>
            <a:off x="4686300" y="4007644"/>
            <a:ext cx="40005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461" name="Google Shape;461;p24" title="Ploxs rendered HTML elemen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6300" y="4096941"/>
            <a:ext cx="228600" cy="22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2" name="Google Shape;462;p24"/>
          <p:cNvGrpSpPr/>
          <p:nvPr/>
        </p:nvGrpSpPr>
        <p:grpSpPr>
          <a:xfrm>
            <a:off x="4980623" y="4051221"/>
            <a:ext cx="3889200" cy="586591"/>
            <a:chOff x="4980623" y="4051221"/>
            <a:chExt cx="3889200" cy="586591"/>
          </a:xfrm>
        </p:grpSpPr>
        <p:sp>
          <p:nvSpPr>
            <p:cNvPr id="463" name="Google Shape;463;p24"/>
            <p:cNvSpPr txBox="1"/>
            <p:nvPr/>
          </p:nvSpPr>
          <p:spPr>
            <a:xfrm>
              <a:off x="4980623" y="4051221"/>
              <a:ext cx="8652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Limitation</a:t>
              </a:r>
              <a:endParaRPr b="1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464" name="Google Shape;464;p24"/>
            <p:cNvSpPr txBox="1"/>
            <p:nvPr/>
          </p:nvSpPr>
          <p:spPr>
            <a:xfrm>
              <a:off x="4980623" y="4227135"/>
              <a:ext cx="3889200" cy="25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9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1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Requirements may need compromise, and the team has less control over</a:t>
              </a:r>
              <a:endParaRPr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465" name="Google Shape;465;p24"/>
            <p:cNvSpPr txBox="1"/>
            <p:nvPr/>
          </p:nvSpPr>
          <p:spPr>
            <a:xfrm>
              <a:off x="4980623" y="4382512"/>
              <a:ext cx="1831200" cy="25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9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1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how reused components evolve.</a:t>
              </a:r>
              <a:endParaRPr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466" name="Google Shape;466;p24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467" name="Google Shape;467;p24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8" name="Google Shape;468;p24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BLA_02                                                                               14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3" name="Google Shape;473;p25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4" name="Google Shape;474;p25"/>
          <p:cNvSpPr txBox="1"/>
          <p:nvPr/>
        </p:nvSpPr>
        <p:spPr>
          <a:xfrm>
            <a:off x="365760" y="408051"/>
            <a:ext cx="5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6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5" name="Google Shape;475;p25"/>
          <p:cNvSpPr txBox="1"/>
          <p:nvPr/>
        </p:nvSpPr>
        <p:spPr>
          <a:xfrm>
            <a:off x="815816" y="243459"/>
            <a:ext cx="65859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Evolution: engineering continues after delivery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6" name="Google Shape;476;p25"/>
          <p:cNvSpPr txBox="1"/>
          <p:nvPr/>
        </p:nvSpPr>
        <p:spPr>
          <a:xfrm>
            <a:off x="365760" y="1378838"/>
            <a:ext cx="4040400" cy="16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18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60%+</a:t>
            </a:r>
            <a:endParaRPr b="1" sz="918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7" name="Google Shape;477;p25"/>
          <p:cNvSpPr txBox="1"/>
          <p:nvPr/>
        </p:nvSpPr>
        <p:spPr>
          <a:xfrm>
            <a:off x="365760" y="2768259"/>
            <a:ext cx="23364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9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of total software cost goes to</a:t>
            </a:r>
            <a:endParaRPr sz="119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06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9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maintenance</a:t>
            </a:r>
            <a:endParaRPr sz="119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8" name="Google Shape;478;p25"/>
          <p:cNvSpPr txBox="1"/>
          <p:nvPr/>
        </p:nvSpPr>
        <p:spPr>
          <a:xfrm>
            <a:off x="365760" y="3298019"/>
            <a:ext cx="19944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Figure from the lab notes. Software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production is development plus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maintenance.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9" name="Google Shape;479;p25"/>
          <p:cNvSpPr txBox="1"/>
          <p:nvPr/>
        </p:nvSpPr>
        <p:spPr>
          <a:xfrm>
            <a:off x="4614282" y="834939"/>
            <a:ext cx="17592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THREE KINDS OF EVOLUTION</a:t>
            </a:r>
            <a:endParaRPr b="1" sz="65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80" name="Google Shape;480;p25"/>
          <p:cNvCxnSpPr/>
          <p:nvPr/>
        </p:nvCxnSpPr>
        <p:spPr>
          <a:xfrm>
            <a:off x="4705722" y="1076474"/>
            <a:ext cx="39810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481" name="Google Shape;481;p25" title="Ploxs rendered HTML elemen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5722" y="1539367"/>
            <a:ext cx="242888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5"/>
          <p:cNvSpPr txBox="1"/>
          <p:nvPr/>
        </p:nvSpPr>
        <p:spPr>
          <a:xfrm>
            <a:off x="5042907" y="1404001"/>
            <a:ext cx="11151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Corrective</a:t>
            </a:r>
            <a:endParaRPr b="1" sz="124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3" name="Google Shape;483;p25"/>
          <p:cNvSpPr txBox="1"/>
          <p:nvPr/>
        </p:nvSpPr>
        <p:spPr>
          <a:xfrm>
            <a:off x="5042907" y="1643103"/>
            <a:ext cx="1957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Fixing faults found after delivery.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84" name="Google Shape;484;p25"/>
          <p:cNvCxnSpPr/>
          <p:nvPr/>
        </p:nvCxnSpPr>
        <p:spPr>
          <a:xfrm>
            <a:off x="4705722" y="2245147"/>
            <a:ext cx="39810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485" name="Google Shape;485;p25" title="Ploxs rendered HTML elemen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5722" y="2708039"/>
            <a:ext cx="242888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5"/>
          <p:cNvSpPr txBox="1"/>
          <p:nvPr/>
        </p:nvSpPr>
        <p:spPr>
          <a:xfrm>
            <a:off x="5042907" y="2489851"/>
            <a:ext cx="10080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Adaptive</a:t>
            </a:r>
            <a:endParaRPr b="1" sz="124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7" name="Google Shape;487;p25"/>
          <p:cNvSpPr txBox="1"/>
          <p:nvPr/>
        </p:nvSpPr>
        <p:spPr>
          <a:xfrm>
            <a:off x="5042907" y="2713308"/>
            <a:ext cx="38964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Adjusting to a changed environment such as a new operating system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or hardware.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88" name="Google Shape;488;p25"/>
          <p:cNvGrpSpPr/>
          <p:nvPr/>
        </p:nvGrpSpPr>
        <p:grpSpPr>
          <a:xfrm>
            <a:off x="4705722" y="3413931"/>
            <a:ext cx="3981000" cy="1168785"/>
            <a:chOff x="4705722" y="3413931"/>
            <a:chExt cx="3981000" cy="1168785"/>
          </a:xfrm>
        </p:grpSpPr>
        <p:cxnSp>
          <p:nvCxnSpPr>
            <p:cNvPr id="489" name="Google Shape;489;p25"/>
            <p:cNvCxnSpPr/>
            <p:nvPr/>
          </p:nvCxnSpPr>
          <p:spPr>
            <a:xfrm>
              <a:off x="4705722" y="3413931"/>
              <a:ext cx="39810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25"/>
            <p:cNvCxnSpPr/>
            <p:nvPr/>
          </p:nvCxnSpPr>
          <p:spPr>
            <a:xfrm>
              <a:off x="4705722" y="4582716"/>
              <a:ext cx="39810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ploxs-render-artifact:v1:{&quot;kind&quot;:&quot;paint-raster&quot;}" id="491" name="Google Shape;491;p25" title="Ploxs rendered HTML elemen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5722" y="3876824"/>
            <a:ext cx="242888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5"/>
          <p:cNvSpPr txBox="1"/>
          <p:nvPr/>
        </p:nvSpPr>
        <p:spPr>
          <a:xfrm>
            <a:off x="5042907" y="3741459"/>
            <a:ext cx="11079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Perfective</a:t>
            </a:r>
            <a:endParaRPr b="1" sz="124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3" name="Google Shape;493;p25"/>
          <p:cNvSpPr txBox="1"/>
          <p:nvPr/>
        </p:nvSpPr>
        <p:spPr>
          <a:xfrm>
            <a:off x="5042907" y="3980560"/>
            <a:ext cx="27822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Adding or improving functions and performance.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94" name="Google Shape;494;p25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495" name="Google Shape;495;p25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96" name="Google Shape;496;p25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BLA_02                                                                               05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1" name="Google Shape;501;p26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2" name="Google Shape;502;p26"/>
          <p:cNvSpPr txBox="1"/>
          <p:nvPr/>
        </p:nvSpPr>
        <p:spPr>
          <a:xfrm>
            <a:off x="365760" y="408051"/>
            <a:ext cx="5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7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3" name="Google Shape;503;p26"/>
          <p:cNvSpPr txBox="1"/>
          <p:nvPr/>
        </p:nvSpPr>
        <p:spPr>
          <a:xfrm>
            <a:off x="815816" y="243459"/>
            <a:ext cx="29475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Coping with change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504" name="Google Shape;504;p26"/>
          <p:cNvCxnSpPr/>
          <p:nvPr/>
        </p:nvCxnSpPr>
        <p:spPr>
          <a:xfrm>
            <a:off x="457200" y="891518"/>
            <a:ext cx="2590800" cy="0"/>
          </a:xfrm>
          <a:prstGeom prst="straightConnector1">
            <a:avLst/>
          </a:prstGeom>
          <a:noFill/>
          <a:ln cap="flat" cmpd="sng" w="292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505" name="Google Shape;505;p26" title="Ploxs rendered HTML elemen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20105"/>
            <a:ext cx="3143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26"/>
          <p:cNvSpPr txBox="1"/>
          <p:nvPr/>
        </p:nvSpPr>
        <p:spPr>
          <a:xfrm>
            <a:off x="365760" y="1339002"/>
            <a:ext cx="21330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Change is inevitable</a:t>
            </a:r>
            <a:endParaRPr b="1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7" name="Google Shape;507;p26"/>
          <p:cNvSpPr txBox="1"/>
          <p:nvPr/>
        </p:nvSpPr>
        <p:spPr>
          <a:xfrm>
            <a:off x="365760" y="1620542"/>
            <a:ext cx="16008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C2662D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In all large software projects</a:t>
            </a:r>
            <a:endParaRPr sz="760">
              <a:solidFill>
                <a:srgbClr val="C2662D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grpSp>
        <p:nvGrpSpPr>
          <p:cNvPr id="508" name="Google Shape;508;p26"/>
          <p:cNvGrpSpPr/>
          <p:nvPr/>
        </p:nvGrpSpPr>
        <p:grpSpPr>
          <a:xfrm>
            <a:off x="365760" y="1896554"/>
            <a:ext cx="2773500" cy="440589"/>
            <a:chOff x="365760" y="1896554"/>
            <a:chExt cx="2773500" cy="440589"/>
          </a:xfrm>
        </p:grpSpPr>
        <p:cxnSp>
          <p:nvCxnSpPr>
            <p:cNvPr id="509" name="Google Shape;509;p26"/>
            <p:cNvCxnSpPr/>
            <p:nvPr/>
          </p:nvCxnSpPr>
          <p:spPr>
            <a:xfrm>
              <a:off x="457200" y="1896554"/>
              <a:ext cx="25908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0" name="Google Shape;510;p26"/>
            <p:cNvSpPr txBox="1"/>
            <p:nvPr/>
          </p:nvSpPr>
          <p:spPr>
            <a:xfrm>
              <a:off x="365760" y="1925843"/>
              <a:ext cx="2773500" cy="41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67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Business changes</a:t>
              </a: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lead to new and changed requirements.</a:t>
              </a:r>
              <a:endParaRPr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511" name="Google Shape;511;p26"/>
          <p:cNvGrpSpPr/>
          <p:nvPr/>
        </p:nvGrpSpPr>
        <p:grpSpPr>
          <a:xfrm>
            <a:off x="365760" y="2366479"/>
            <a:ext cx="2773500" cy="440589"/>
            <a:chOff x="365760" y="2366479"/>
            <a:chExt cx="2773500" cy="440589"/>
          </a:xfrm>
        </p:grpSpPr>
        <p:cxnSp>
          <p:nvCxnSpPr>
            <p:cNvPr id="512" name="Google Shape;512;p26"/>
            <p:cNvCxnSpPr/>
            <p:nvPr/>
          </p:nvCxnSpPr>
          <p:spPr>
            <a:xfrm>
              <a:off x="457200" y="2366479"/>
              <a:ext cx="25908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3" name="Google Shape;513;p26"/>
            <p:cNvSpPr txBox="1"/>
            <p:nvPr/>
          </p:nvSpPr>
          <p:spPr>
            <a:xfrm>
              <a:off x="365760" y="2395768"/>
              <a:ext cx="2773500" cy="41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67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New technologies</a:t>
              </a: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open up better ways to implement the system.</a:t>
              </a:r>
              <a:endParaRPr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514" name="Google Shape;514;p26"/>
          <p:cNvGrpSpPr/>
          <p:nvPr/>
        </p:nvGrpSpPr>
        <p:grpSpPr>
          <a:xfrm>
            <a:off x="365760" y="2836404"/>
            <a:ext cx="2863800" cy="285117"/>
            <a:chOff x="365760" y="2836404"/>
            <a:chExt cx="2863800" cy="285117"/>
          </a:xfrm>
        </p:grpSpPr>
        <p:cxnSp>
          <p:nvCxnSpPr>
            <p:cNvPr id="515" name="Google Shape;515;p26"/>
            <p:cNvCxnSpPr/>
            <p:nvPr/>
          </p:nvCxnSpPr>
          <p:spPr>
            <a:xfrm>
              <a:off x="457200" y="2836404"/>
              <a:ext cx="25908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6" name="Google Shape;516;p26"/>
            <p:cNvSpPr txBox="1"/>
            <p:nvPr/>
          </p:nvSpPr>
          <p:spPr>
            <a:xfrm>
              <a:off x="365760" y="2861121"/>
              <a:ext cx="28638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67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Changing platforms</a:t>
              </a: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require application changes.</a:t>
              </a:r>
              <a:endParaRPr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517" name="Google Shape;517;p26"/>
          <p:cNvGrpSpPr/>
          <p:nvPr/>
        </p:nvGrpSpPr>
        <p:grpSpPr>
          <a:xfrm>
            <a:off x="365760" y="3146375"/>
            <a:ext cx="2773500" cy="440590"/>
            <a:chOff x="365760" y="3146375"/>
            <a:chExt cx="2773500" cy="440590"/>
          </a:xfrm>
        </p:grpSpPr>
        <p:cxnSp>
          <p:nvCxnSpPr>
            <p:cNvPr id="518" name="Google Shape;518;p26"/>
            <p:cNvCxnSpPr/>
            <p:nvPr/>
          </p:nvCxnSpPr>
          <p:spPr>
            <a:xfrm>
              <a:off x="457200" y="3146375"/>
              <a:ext cx="25908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9" name="Google Shape;519;p26"/>
            <p:cNvSpPr txBox="1"/>
            <p:nvPr/>
          </p:nvSpPr>
          <p:spPr>
            <a:xfrm>
              <a:off x="365760" y="3175665"/>
              <a:ext cx="2773500" cy="41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67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Change causes </a:t>
              </a:r>
              <a:r>
                <a:rPr b="1" lang="en" sz="86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rework</a:t>
              </a: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plus the cost of new functionality.</a:t>
              </a:r>
              <a:endParaRPr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520" name="Google Shape;520;p26"/>
          <p:cNvCxnSpPr/>
          <p:nvPr/>
        </p:nvCxnSpPr>
        <p:spPr>
          <a:xfrm>
            <a:off x="3276526" y="891518"/>
            <a:ext cx="2590800" cy="0"/>
          </a:xfrm>
          <a:prstGeom prst="straightConnector1">
            <a:avLst/>
          </a:prstGeom>
          <a:noFill/>
          <a:ln cap="flat" cmpd="sng" w="292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521" name="Google Shape;521;p26" title="Ploxs rendered HTML elemen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6526" y="1020105"/>
            <a:ext cx="3143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6"/>
          <p:cNvSpPr txBox="1"/>
          <p:nvPr/>
        </p:nvSpPr>
        <p:spPr>
          <a:xfrm>
            <a:off x="3185086" y="1339002"/>
            <a:ext cx="14115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Prototyping</a:t>
            </a:r>
            <a:endParaRPr b="1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3" name="Google Shape;523;p26"/>
          <p:cNvSpPr txBox="1"/>
          <p:nvPr/>
        </p:nvSpPr>
        <p:spPr>
          <a:xfrm>
            <a:off x="3185086" y="1620542"/>
            <a:ext cx="1615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C2662D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Supports change anticipation</a:t>
            </a:r>
            <a:endParaRPr sz="760">
              <a:solidFill>
                <a:srgbClr val="C2662D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grpSp>
        <p:nvGrpSpPr>
          <p:cNvPr id="524" name="Google Shape;524;p26"/>
          <p:cNvGrpSpPr/>
          <p:nvPr/>
        </p:nvGrpSpPr>
        <p:grpSpPr>
          <a:xfrm>
            <a:off x="3185086" y="1896554"/>
            <a:ext cx="2773800" cy="600489"/>
            <a:chOff x="3185086" y="1896554"/>
            <a:chExt cx="2773800" cy="600489"/>
          </a:xfrm>
        </p:grpSpPr>
        <p:cxnSp>
          <p:nvCxnSpPr>
            <p:cNvPr id="525" name="Google Shape;525;p26"/>
            <p:cNvCxnSpPr/>
            <p:nvPr/>
          </p:nvCxnSpPr>
          <p:spPr>
            <a:xfrm>
              <a:off x="3276526" y="1896554"/>
              <a:ext cx="25908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6" name="Google Shape;526;p26"/>
            <p:cNvSpPr txBox="1"/>
            <p:nvPr/>
          </p:nvSpPr>
          <p:spPr>
            <a:xfrm>
              <a:off x="3185086" y="1925843"/>
              <a:ext cx="2773800" cy="5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67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 version of the system, or part of it, is built quickly to check requirements and design feasibility.</a:t>
              </a:r>
              <a:endParaRPr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527" name="Google Shape;527;p26"/>
          <p:cNvGrpSpPr/>
          <p:nvPr/>
        </p:nvGrpSpPr>
        <p:grpSpPr>
          <a:xfrm>
            <a:off x="3185086" y="2526432"/>
            <a:ext cx="2682240" cy="285117"/>
            <a:chOff x="3185086" y="2526432"/>
            <a:chExt cx="2682240" cy="285117"/>
          </a:xfrm>
        </p:grpSpPr>
        <p:cxnSp>
          <p:nvCxnSpPr>
            <p:cNvPr id="528" name="Google Shape;528;p26"/>
            <p:cNvCxnSpPr/>
            <p:nvPr/>
          </p:nvCxnSpPr>
          <p:spPr>
            <a:xfrm>
              <a:off x="3276526" y="2526432"/>
              <a:ext cx="25908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9" name="Google Shape;529;p26"/>
            <p:cNvSpPr txBox="1"/>
            <p:nvPr/>
          </p:nvSpPr>
          <p:spPr>
            <a:xfrm>
              <a:off x="3185086" y="2551149"/>
              <a:ext cx="24255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67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Requirements:</a:t>
              </a: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elicitation and validation.</a:t>
              </a:r>
              <a:endParaRPr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530" name="Google Shape;530;p26"/>
          <p:cNvGrpSpPr/>
          <p:nvPr/>
        </p:nvGrpSpPr>
        <p:grpSpPr>
          <a:xfrm>
            <a:off x="3185086" y="2836404"/>
            <a:ext cx="2682240" cy="285117"/>
            <a:chOff x="3185086" y="2836404"/>
            <a:chExt cx="2682240" cy="285117"/>
          </a:xfrm>
        </p:grpSpPr>
        <p:cxnSp>
          <p:nvCxnSpPr>
            <p:cNvPr id="531" name="Google Shape;531;p26"/>
            <p:cNvCxnSpPr/>
            <p:nvPr/>
          </p:nvCxnSpPr>
          <p:spPr>
            <a:xfrm>
              <a:off x="3276526" y="2836404"/>
              <a:ext cx="25908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2" name="Google Shape;532;p26"/>
            <p:cNvSpPr txBox="1"/>
            <p:nvPr/>
          </p:nvSpPr>
          <p:spPr>
            <a:xfrm>
              <a:off x="3185086" y="2861121"/>
              <a:ext cx="25740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67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Design:</a:t>
              </a: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explore options and develop the UI.</a:t>
              </a:r>
              <a:endParaRPr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533" name="Google Shape;533;p26"/>
          <p:cNvGrpSpPr/>
          <p:nvPr/>
        </p:nvGrpSpPr>
        <p:grpSpPr>
          <a:xfrm>
            <a:off x="3185086" y="3146375"/>
            <a:ext cx="2682240" cy="285118"/>
            <a:chOff x="3185086" y="3146375"/>
            <a:chExt cx="2682240" cy="285118"/>
          </a:xfrm>
        </p:grpSpPr>
        <p:cxnSp>
          <p:nvCxnSpPr>
            <p:cNvPr id="534" name="Google Shape;534;p26"/>
            <p:cNvCxnSpPr/>
            <p:nvPr/>
          </p:nvCxnSpPr>
          <p:spPr>
            <a:xfrm>
              <a:off x="3276526" y="3146375"/>
              <a:ext cx="25908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5" name="Google Shape;535;p26"/>
            <p:cNvSpPr txBox="1"/>
            <p:nvPr/>
          </p:nvSpPr>
          <p:spPr>
            <a:xfrm>
              <a:off x="3185086" y="3171093"/>
              <a:ext cx="19278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67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Testing:</a:t>
              </a: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run back-to-back tests.</a:t>
              </a:r>
              <a:endParaRPr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536" name="Google Shape;536;p26"/>
          <p:cNvCxnSpPr/>
          <p:nvPr/>
        </p:nvCxnSpPr>
        <p:spPr>
          <a:xfrm>
            <a:off x="6095963" y="891518"/>
            <a:ext cx="2590800" cy="0"/>
          </a:xfrm>
          <a:prstGeom prst="straightConnector1">
            <a:avLst/>
          </a:prstGeom>
          <a:noFill/>
          <a:ln cap="flat" cmpd="sng" w="292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537" name="Google Shape;537;p26" title="Ploxs rendered HTML elemen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963" y="1020105"/>
            <a:ext cx="3143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26"/>
          <p:cNvSpPr txBox="1"/>
          <p:nvPr/>
        </p:nvSpPr>
        <p:spPr>
          <a:xfrm>
            <a:off x="6004523" y="1339002"/>
            <a:ext cx="21474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Incremental delivery</a:t>
            </a:r>
            <a:endParaRPr b="1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39" name="Google Shape;539;p26"/>
          <p:cNvSpPr txBox="1"/>
          <p:nvPr/>
        </p:nvSpPr>
        <p:spPr>
          <a:xfrm>
            <a:off x="6004523" y="1620542"/>
            <a:ext cx="22173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">
                <a:solidFill>
                  <a:srgbClr val="C2662D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Supports change avoidance and tolerance</a:t>
            </a:r>
            <a:endParaRPr sz="760">
              <a:solidFill>
                <a:srgbClr val="C2662D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grpSp>
        <p:nvGrpSpPr>
          <p:cNvPr id="540" name="Google Shape;540;p26"/>
          <p:cNvGrpSpPr/>
          <p:nvPr/>
        </p:nvGrpSpPr>
        <p:grpSpPr>
          <a:xfrm>
            <a:off x="6004523" y="1896554"/>
            <a:ext cx="2834100" cy="440589"/>
            <a:chOff x="6004523" y="1896554"/>
            <a:chExt cx="2834100" cy="440589"/>
          </a:xfrm>
        </p:grpSpPr>
        <p:cxnSp>
          <p:nvCxnSpPr>
            <p:cNvPr id="541" name="Google Shape;541;p26"/>
            <p:cNvCxnSpPr/>
            <p:nvPr/>
          </p:nvCxnSpPr>
          <p:spPr>
            <a:xfrm>
              <a:off x="6095963" y="1896554"/>
              <a:ext cx="25908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2" name="Google Shape;542;p26"/>
            <p:cNvSpPr txBox="1"/>
            <p:nvPr/>
          </p:nvSpPr>
          <p:spPr>
            <a:xfrm>
              <a:off x="6004523" y="1925843"/>
              <a:ext cx="2834100" cy="41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67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Increments go to the customer for comment and experimentation.</a:t>
              </a:r>
              <a:endParaRPr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543" name="Google Shape;543;p26"/>
          <p:cNvGrpSpPr/>
          <p:nvPr/>
        </p:nvGrpSpPr>
        <p:grpSpPr>
          <a:xfrm>
            <a:off x="6004523" y="2366479"/>
            <a:ext cx="2682240" cy="285117"/>
            <a:chOff x="6004523" y="2366479"/>
            <a:chExt cx="2682240" cy="285117"/>
          </a:xfrm>
        </p:grpSpPr>
        <p:cxnSp>
          <p:nvCxnSpPr>
            <p:cNvPr id="544" name="Google Shape;544;p26"/>
            <p:cNvCxnSpPr/>
            <p:nvPr/>
          </p:nvCxnSpPr>
          <p:spPr>
            <a:xfrm>
              <a:off x="6095963" y="2366479"/>
              <a:ext cx="25908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5" name="Google Shape;545;p26"/>
            <p:cNvSpPr txBox="1"/>
            <p:nvPr/>
          </p:nvSpPr>
          <p:spPr>
            <a:xfrm>
              <a:off x="6004523" y="2391196"/>
              <a:ext cx="26781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67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Customers receive useful functionality earlier.</a:t>
              </a:r>
              <a:endParaRPr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546" name="Google Shape;546;p26"/>
          <p:cNvGrpSpPr/>
          <p:nvPr/>
        </p:nvGrpSpPr>
        <p:grpSpPr>
          <a:xfrm>
            <a:off x="6004523" y="2676451"/>
            <a:ext cx="2773500" cy="440589"/>
            <a:chOff x="6004523" y="2676451"/>
            <a:chExt cx="2773500" cy="440589"/>
          </a:xfrm>
        </p:grpSpPr>
        <p:cxnSp>
          <p:nvCxnSpPr>
            <p:cNvPr id="547" name="Google Shape;547;p26"/>
            <p:cNvCxnSpPr/>
            <p:nvPr/>
          </p:nvCxnSpPr>
          <p:spPr>
            <a:xfrm>
              <a:off x="6095963" y="2676451"/>
              <a:ext cx="25908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8" name="Google Shape;548;p26"/>
            <p:cNvSpPr txBox="1"/>
            <p:nvPr/>
          </p:nvSpPr>
          <p:spPr>
            <a:xfrm>
              <a:off x="6004523" y="2705740"/>
              <a:ext cx="2773500" cy="41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67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Feedback from each increment informs what is built next.</a:t>
              </a:r>
              <a:endParaRPr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549" name="Google Shape;549;p26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550" name="Google Shape;550;p26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1" name="Google Shape;551;p26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BLA_02                                                                               15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6" name="Google Shape;556;p27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7" name="Google Shape;557;p27"/>
          <p:cNvSpPr txBox="1"/>
          <p:nvPr/>
        </p:nvSpPr>
        <p:spPr>
          <a:xfrm>
            <a:off x="365760" y="408051"/>
            <a:ext cx="5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7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8" name="Google Shape;558;p27"/>
          <p:cNvSpPr txBox="1"/>
          <p:nvPr/>
        </p:nvSpPr>
        <p:spPr>
          <a:xfrm>
            <a:off x="815816" y="243459"/>
            <a:ext cx="41937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change affects a project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559" name="Google Shape;559;p27"/>
          <p:cNvCxnSpPr/>
          <p:nvPr/>
        </p:nvCxnSpPr>
        <p:spPr>
          <a:xfrm>
            <a:off x="457200" y="880802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560" name="Google Shape;560;p27" title="Ploxs rendered HTML elemen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00596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27"/>
          <p:cNvSpPr txBox="1"/>
          <p:nvPr/>
        </p:nvSpPr>
        <p:spPr>
          <a:xfrm>
            <a:off x="908685" y="1165222"/>
            <a:ext cx="761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1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Cost</a:t>
            </a:r>
            <a:endParaRPr b="1" sz="151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2" name="Google Shape;562;p27"/>
          <p:cNvSpPr txBox="1"/>
          <p:nvPr/>
        </p:nvSpPr>
        <p:spPr>
          <a:xfrm>
            <a:off x="2623185" y="1204843"/>
            <a:ext cx="63408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3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Rework such as </a:t>
            </a:r>
            <a:r>
              <a:rPr b="1" lang="en" sz="10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re-analysing requirements</a:t>
            </a:r>
            <a:r>
              <a:rPr lang="en" sz="103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, plus the cost of implementing the new functionality.</a:t>
            </a:r>
            <a:endParaRPr sz="103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63" name="Google Shape;563;p27"/>
          <p:cNvCxnSpPr/>
          <p:nvPr/>
        </p:nvCxnSpPr>
        <p:spPr>
          <a:xfrm>
            <a:off x="457200" y="1806253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564" name="Google Shape;564;p27" title="Ploxs rendered HTML elemen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2126159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27"/>
          <p:cNvSpPr txBox="1"/>
          <p:nvPr/>
        </p:nvSpPr>
        <p:spPr>
          <a:xfrm>
            <a:off x="908685" y="2090672"/>
            <a:ext cx="1197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1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Schedule</a:t>
            </a:r>
            <a:endParaRPr b="1" sz="151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6" name="Google Shape;566;p27"/>
          <p:cNvSpPr txBox="1"/>
          <p:nvPr/>
        </p:nvSpPr>
        <p:spPr>
          <a:xfrm>
            <a:off x="2623185" y="2130293"/>
            <a:ext cx="51966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3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Rework and re-planning </a:t>
            </a:r>
            <a:r>
              <a:rPr b="1" lang="en" sz="10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push back delivery dates</a:t>
            </a:r>
            <a:r>
              <a:rPr lang="en" sz="103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and can disturb milestones.</a:t>
            </a:r>
            <a:endParaRPr sz="103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67" name="Google Shape;567;p27"/>
          <p:cNvCxnSpPr/>
          <p:nvPr/>
        </p:nvCxnSpPr>
        <p:spPr>
          <a:xfrm>
            <a:off x="457200" y="2731815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568" name="Google Shape;568;p27" title="Ploxs rendered HTML elemen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" y="3051609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27"/>
          <p:cNvSpPr txBox="1"/>
          <p:nvPr/>
        </p:nvSpPr>
        <p:spPr>
          <a:xfrm>
            <a:off x="908685" y="3016234"/>
            <a:ext cx="1018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1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Testing</a:t>
            </a:r>
            <a:endParaRPr b="1" sz="151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0" name="Google Shape;570;p27"/>
          <p:cNvSpPr txBox="1"/>
          <p:nvPr/>
        </p:nvSpPr>
        <p:spPr>
          <a:xfrm>
            <a:off x="2623185" y="3055855"/>
            <a:ext cx="51075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3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Changed code must be </a:t>
            </a:r>
            <a:r>
              <a:rPr b="1" lang="en" sz="10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retested</a:t>
            </a:r>
            <a:r>
              <a:rPr lang="en" sz="103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, with regression checks to catch side effects.</a:t>
            </a:r>
            <a:endParaRPr sz="103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571" name="Google Shape;571;p27"/>
          <p:cNvGrpSpPr/>
          <p:nvPr/>
        </p:nvGrpSpPr>
        <p:grpSpPr>
          <a:xfrm>
            <a:off x="457200" y="3657265"/>
            <a:ext cx="8229600" cy="925451"/>
            <a:chOff x="457200" y="3657265"/>
            <a:chExt cx="8229600" cy="925451"/>
          </a:xfrm>
        </p:grpSpPr>
        <p:cxnSp>
          <p:nvCxnSpPr>
            <p:cNvPr id="572" name="Google Shape;572;p27"/>
            <p:cNvCxnSpPr/>
            <p:nvPr/>
          </p:nvCxnSpPr>
          <p:spPr>
            <a:xfrm>
              <a:off x="457200" y="3657265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3" name="Google Shape;573;p27"/>
            <p:cNvCxnSpPr/>
            <p:nvPr/>
          </p:nvCxnSpPr>
          <p:spPr>
            <a:xfrm>
              <a:off x="457200" y="4582716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ploxs-render-artifact:v1:{&quot;kind&quot;:&quot;paint-raster&quot;}" id="574" name="Google Shape;574;p27" title="Ploxs rendered HTML elemen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" y="397706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7"/>
          <p:cNvSpPr txBox="1"/>
          <p:nvPr/>
        </p:nvSpPr>
        <p:spPr>
          <a:xfrm>
            <a:off x="908685" y="3941685"/>
            <a:ext cx="1797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1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Documentation</a:t>
            </a:r>
            <a:endParaRPr b="1" sz="151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6" name="Google Shape;576;p27"/>
          <p:cNvSpPr txBox="1"/>
          <p:nvPr/>
        </p:nvSpPr>
        <p:spPr>
          <a:xfrm>
            <a:off x="2623185" y="3981306"/>
            <a:ext cx="63111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3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Requirements, design and user documents must be </a:t>
            </a:r>
            <a:r>
              <a:rPr b="1" lang="en" sz="10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updated to stay consistent</a:t>
            </a:r>
            <a:r>
              <a:rPr lang="en" sz="103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with the system.</a:t>
            </a:r>
            <a:endParaRPr sz="103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577" name="Google Shape;577;p27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578" name="Google Shape;578;p27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79" name="Google Shape;579;p27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BLA_02                                                                               16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4" name="Google Shape;584;p28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5" name="Google Shape;585;p28"/>
          <p:cNvSpPr txBox="1"/>
          <p:nvPr/>
        </p:nvSpPr>
        <p:spPr>
          <a:xfrm>
            <a:off x="365760" y="408051"/>
            <a:ext cx="5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8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86" name="Google Shape;586;p28"/>
          <p:cNvSpPr txBox="1"/>
          <p:nvPr/>
        </p:nvSpPr>
        <p:spPr>
          <a:xfrm>
            <a:off x="815816" y="243459"/>
            <a:ext cx="34260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Two real-world systems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587" name="Google Shape;587;p28"/>
          <p:cNvCxnSpPr/>
          <p:nvPr/>
        </p:nvCxnSpPr>
        <p:spPr>
          <a:xfrm>
            <a:off x="457200" y="1495499"/>
            <a:ext cx="3314700" cy="0"/>
          </a:xfrm>
          <a:prstGeom prst="straightConnector1">
            <a:avLst/>
          </a:prstGeom>
          <a:noFill/>
          <a:ln cap="flat" cmpd="sng" w="29200">
            <a:solidFill>
              <a:srgbClr val="1F6F5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8" name="Google Shape;588;p28"/>
          <p:cNvSpPr txBox="1"/>
          <p:nvPr/>
        </p:nvSpPr>
        <p:spPr>
          <a:xfrm>
            <a:off x="365760" y="1582082"/>
            <a:ext cx="20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STREAMING PLATFORM · NETFLIX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89" name="Google Shape;589;p28"/>
          <p:cNvSpPr txBox="1"/>
          <p:nvPr/>
        </p:nvSpPr>
        <p:spPr>
          <a:xfrm>
            <a:off x="365760" y="1721813"/>
            <a:ext cx="26295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6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Netflix streaming service</a:t>
            </a:r>
            <a:endParaRPr b="1" sz="146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0" name="Google Shape;590;p28"/>
          <p:cNvSpPr txBox="1"/>
          <p:nvPr/>
        </p:nvSpPr>
        <p:spPr>
          <a:xfrm>
            <a:off x="365760" y="2005898"/>
            <a:ext cx="35103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 cloud-based multimedia platform that delivers continuous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high-definition video on demand to thousands of device types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without interruption.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91" name="Google Shape;591;p28"/>
          <p:cNvCxnSpPr/>
          <p:nvPr/>
        </p:nvCxnSpPr>
        <p:spPr>
          <a:xfrm>
            <a:off x="457200" y="2745991"/>
            <a:ext cx="3314700" cy="0"/>
          </a:xfrm>
          <a:prstGeom prst="straightConnector1">
            <a:avLst/>
          </a:prstGeom>
          <a:noFill/>
          <a:ln cap="flat" cmpd="sng" w="29200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28"/>
          <p:cNvSpPr txBox="1"/>
          <p:nvPr/>
        </p:nvSpPr>
        <p:spPr>
          <a:xfrm>
            <a:off x="365760" y="2832573"/>
            <a:ext cx="19188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GAMING SYSTEM · RIOT GAMES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3" name="Google Shape;593;p28"/>
          <p:cNvSpPr txBox="1"/>
          <p:nvPr/>
        </p:nvSpPr>
        <p:spPr>
          <a:xfrm>
            <a:off x="365760" y="2972305"/>
            <a:ext cx="21081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6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League of Legends</a:t>
            </a:r>
            <a:endParaRPr b="1" sz="146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4" name="Google Shape;594;p28"/>
          <p:cNvSpPr txBox="1"/>
          <p:nvPr/>
        </p:nvSpPr>
        <p:spPr>
          <a:xfrm>
            <a:off x="365760" y="3256389"/>
            <a:ext cx="32577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 real-time, low-latency client-server platform that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synchronizes player inputs, physics and rendering across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multiplayer matches worldwide.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95" name="Google Shape;59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39" y="1455874"/>
            <a:ext cx="4571922" cy="25517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6" name="Google Shape;596;p28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597" name="Google Shape;597;p28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98" name="Google Shape;598;p28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BLA_02                                                                               17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3" name="Google Shape;603;p29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29"/>
          <p:cNvSpPr txBox="1"/>
          <p:nvPr/>
        </p:nvSpPr>
        <p:spPr>
          <a:xfrm>
            <a:off x="365760" y="408051"/>
            <a:ext cx="5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8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05" name="Google Shape;605;p29"/>
          <p:cNvSpPr txBox="1"/>
          <p:nvPr/>
        </p:nvSpPr>
        <p:spPr>
          <a:xfrm>
            <a:off x="815816" y="243459"/>
            <a:ext cx="35619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technical functions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606" name="Google Shape;606;p29"/>
          <p:cNvGrpSpPr/>
          <p:nvPr/>
        </p:nvGrpSpPr>
        <p:grpSpPr>
          <a:xfrm>
            <a:off x="365760" y="810365"/>
            <a:ext cx="4034640" cy="360540"/>
            <a:chOff x="365760" y="810365"/>
            <a:chExt cx="4034640" cy="360540"/>
          </a:xfrm>
        </p:grpSpPr>
        <p:cxnSp>
          <p:nvCxnSpPr>
            <p:cNvPr id="607" name="Google Shape;607;p29"/>
            <p:cNvCxnSpPr/>
            <p:nvPr/>
          </p:nvCxnSpPr>
          <p:spPr>
            <a:xfrm>
              <a:off x="457200" y="1170905"/>
              <a:ext cx="3943200" cy="0"/>
            </a:xfrm>
            <a:prstGeom prst="straightConnector1">
              <a:avLst/>
            </a:prstGeom>
            <a:noFill/>
            <a:ln cap="flat" cmpd="sng" w="29200">
              <a:solidFill>
                <a:srgbClr val="1F6F5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8" name="Google Shape;608;p29"/>
            <p:cNvSpPr txBox="1"/>
            <p:nvPr/>
          </p:nvSpPr>
          <p:spPr>
            <a:xfrm>
              <a:off x="365760" y="810365"/>
              <a:ext cx="8829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F252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Netflix</a:t>
              </a:r>
              <a:endParaRPr b="1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cxnSp>
        <p:nvCxnSpPr>
          <p:cNvPr id="609" name="Google Shape;609;p29"/>
          <p:cNvCxnSpPr/>
          <p:nvPr/>
        </p:nvCxnSpPr>
        <p:spPr>
          <a:xfrm>
            <a:off x="457200" y="2053270"/>
            <a:ext cx="39432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610" name="Google Shape;610;p29" title="Ploxs rendered HTML elemen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45952"/>
            <a:ext cx="171450" cy="171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1" name="Google Shape;611;p29"/>
          <p:cNvGrpSpPr/>
          <p:nvPr/>
        </p:nvGrpSpPr>
        <p:grpSpPr>
          <a:xfrm>
            <a:off x="751523" y="1345972"/>
            <a:ext cx="3740400" cy="573683"/>
            <a:chOff x="751523" y="1345972"/>
            <a:chExt cx="3740400" cy="573683"/>
          </a:xfrm>
        </p:grpSpPr>
        <p:sp>
          <p:nvSpPr>
            <p:cNvPr id="612" name="Google Shape;612;p29"/>
            <p:cNvSpPr txBox="1"/>
            <p:nvPr/>
          </p:nvSpPr>
          <p:spPr>
            <a:xfrm>
              <a:off x="751523" y="1345972"/>
              <a:ext cx="17652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Transcoding and encoding</a:t>
              </a:r>
              <a:endParaRPr b="1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13" name="Google Shape;613;p29"/>
            <p:cNvSpPr txBox="1"/>
            <p:nvPr/>
          </p:nvSpPr>
          <p:spPr>
            <a:xfrm>
              <a:off x="751523" y="1525994"/>
              <a:ext cx="37404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3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Converts raw video into many formats and bitrates for different screens and</a:t>
              </a:r>
              <a:endParaRPr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14" name="Google Shape;614;p29"/>
            <p:cNvSpPr txBox="1"/>
            <p:nvPr/>
          </p:nvSpPr>
          <p:spPr>
            <a:xfrm>
              <a:off x="751523" y="1680255"/>
              <a:ext cx="6186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3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speeds.</a:t>
              </a:r>
              <a:endParaRPr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615" name="Google Shape;615;p29"/>
          <p:cNvCxnSpPr/>
          <p:nvPr/>
        </p:nvCxnSpPr>
        <p:spPr>
          <a:xfrm>
            <a:off x="457200" y="2896456"/>
            <a:ext cx="39432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616" name="Google Shape;616;p29" title="Ploxs rendered HTML elemen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2389138"/>
            <a:ext cx="171450" cy="171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7" name="Google Shape;617;p29"/>
          <p:cNvGrpSpPr/>
          <p:nvPr/>
        </p:nvGrpSpPr>
        <p:grpSpPr>
          <a:xfrm>
            <a:off x="751523" y="2266288"/>
            <a:ext cx="3732900" cy="419422"/>
            <a:chOff x="751523" y="2266288"/>
            <a:chExt cx="3732900" cy="419422"/>
          </a:xfrm>
        </p:grpSpPr>
        <p:sp>
          <p:nvSpPr>
            <p:cNvPr id="618" name="Google Shape;618;p29"/>
            <p:cNvSpPr txBox="1"/>
            <p:nvPr/>
          </p:nvSpPr>
          <p:spPr>
            <a:xfrm>
              <a:off x="751523" y="2266288"/>
              <a:ext cx="17439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Content delivery network</a:t>
              </a:r>
              <a:endParaRPr b="1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19" name="Google Shape;619;p29"/>
            <p:cNvSpPr txBox="1"/>
            <p:nvPr/>
          </p:nvSpPr>
          <p:spPr>
            <a:xfrm>
              <a:off x="751523" y="2446310"/>
              <a:ext cx="37329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3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Caches popular video on edge servers near users to cut delay and buffering.</a:t>
              </a:r>
              <a:endParaRPr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620" name="Google Shape;620;p29"/>
          <p:cNvCxnSpPr/>
          <p:nvPr/>
        </p:nvCxnSpPr>
        <p:spPr>
          <a:xfrm>
            <a:off x="457200" y="3739530"/>
            <a:ext cx="39432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621" name="Google Shape;621;p29" title="Ploxs rendered HTML elemen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" y="3232212"/>
            <a:ext cx="171450" cy="171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29"/>
          <p:cNvGrpSpPr/>
          <p:nvPr/>
        </p:nvGrpSpPr>
        <p:grpSpPr>
          <a:xfrm>
            <a:off x="751523" y="3109362"/>
            <a:ext cx="3220500" cy="419422"/>
            <a:chOff x="751523" y="3109362"/>
            <a:chExt cx="3220500" cy="419422"/>
          </a:xfrm>
        </p:grpSpPr>
        <p:sp>
          <p:nvSpPr>
            <p:cNvPr id="623" name="Google Shape;623;p29"/>
            <p:cNvSpPr txBox="1"/>
            <p:nvPr/>
          </p:nvSpPr>
          <p:spPr>
            <a:xfrm>
              <a:off x="751523" y="3109362"/>
              <a:ext cx="17010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Recommendation engine</a:t>
              </a:r>
              <a:endParaRPr b="1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24" name="Google Shape;624;p29"/>
            <p:cNvSpPr txBox="1"/>
            <p:nvPr/>
          </p:nvSpPr>
          <p:spPr>
            <a:xfrm>
              <a:off x="751523" y="3289384"/>
              <a:ext cx="32205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3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Analyzes real-time behavior to personalize content suggestions.</a:t>
              </a:r>
              <a:endParaRPr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625" name="Google Shape;625;p29"/>
          <p:cNvCxnSpPr/>
          <p:nvPr/>
        </p:nvCxnSpPr>
        <p:spPr>
          <a:xfrm>
            <a:off x="457200" y="4582716"/>
            <a:ext cx="39432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626" name="Google Shape;626;p29" title="Ploxs rendered HTML elemen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" y="4075398"/>
            <a:ext cx="171450" cy="171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7" name="Google Shape;627;p29"/>
          <p:cNvGrpSpPr/>
          <p:nvPr/>
        </p:nvGrpSpPr>
        <p:grpSpPr>
          <a:xfrm>
            <a:off x="751523" y="3952548"/>
            <a:ext cx="3658800" cy="419422"/>
            <a:chOff x="751523" y="3952548"/>
            <a:chExt cx="3658800" cy="419422"/>
          </a:xfrm>
        </p:grpSpPr>
        <p:sp>
          <p:nvSpPr>
            <p:cNvPr id="628" name="Google Shape;628;p29"/>
            <p:cNvSpPr txBox="1"/>
            <p:nvPr/>
          </p:nvSpPr>
          <p:spPr>
            <a:xfrm>
              <a:off x="751523" y="3952548"/>
              <a:ext cx="18384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Adaptive bitrate streaming</a:t>
              </a:r>
              <a:endParaRPr b="1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29" name="Google Shape;629;p29"/>
            <p:cNvSpPr txBox="1"/>
            <p:nvPr/>
          </p:nvSpPr>
          <p:spPr>
            <a:xfrm>
              <a:off x="751523" y="4132570"/>
              <a:ext cx="36588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3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Adjusts resolution mid-stream to match bandwidth and prevent buffering.</a:t>
              </a:r>
              <a:endParaRPr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630" name="Google Shape;630;p29"/>
          <p:cNvGrpSpPr/>
          <p:nvPr/>
        </p:nvGrpSpPr>
        <p:grpSpPr>
          <a:xfrm>
            <a:off x="4652010" y="810365"/>
            <a:ext cx="4034640" cy="360540"/>
            <a:chOff x="4652010" y="810365"/>
            <a:chExt cx="4034640" cy="360540"/>
          </a:xfrm>
        </p:grpSpPr>
        <p:cxnSp>
          <p:nvCxnSpPr>
            <p:cNvPr id="631" name="Google Shape;631;p29"/>
            <p:cNvCxnSpPr/>
            <p:nvPr/>
          </p:nvCxnSpPr>
          <p:spPr>
            <a:xfrm>
              <a:off x="4743450" y="1170905"/>
              <a:ext cx="3943200" cy="0"/>
            </a:xfrm>
            <a:prstGeom prst="straightConnector1">
              <a:avLst/>
            </a:prstGeom>
            <a:noFill/>
            <a:ln cap="flat" cmpd="sng" w="29200">
              <a:solidFill>
                <a:srgbClr val="2F3A4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2" name="Google Shape;632;p29"/>
            <p:cNvSpPr txBox="1"/>
            <p:nvPr/>
          </p:nvSpPr>
          <p:spPr>
            <a:xfrm>
              <a:off x="4652010" y="810365"/>
              <a:ext cx="20259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F252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League of Legends</a:t>
              </a:r>
              <a:endParaRPr b="1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cxnSp>
        <p:nvCxnSpPr>
          <p:cNvPr id="633" name="Google Shape;633;p29"/>
          <p:cNvCxnSpPr/>
          <p:nvPr/>
        </p:nvCxnSpPr>
        <p:spPr>
          <a:xfrm>
            <a:off x="4743450" y="2053270"/>
            <a:ext cx="39432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634" name="Google Shape;634;p29" title="Ploxs rendered HTML element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43450" y="1545952"/>
            <a:ext cx="171450" cy="171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5" name="Google Shape;635;p29"/>
          <p:cNvGrpSpPr/>
          <p:nvPr/>
        </p:nvGrpSpPr>
        <p:grpSpPr>
          <a:xfrm>
            <a:off x="5037773" y="1423102"/>
            <a:ext cx="3866700" cy="419422"/>
            <a:chOff x="5037773" y="1423102"/>
            <a:chExt cx="3866700" cy="419422"/>
          </a:xfrm>
        </p:grpSpPr>
        <p:sp>
          <p:nvSpPr>
            <p:cNvPr id="636" name="Google Shape;636;p29"/>
            <p:cNvSpPr txBox="1"/>
            <p:nvPr/>
          </p:nvSpPr>
          <p:spPr>
            <a:xfrm>
              <a:off x="5037773" y="1423102"/>
              <a:ext cx="16224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Game client and engine</a:t>
              </a:r>
              <a:endParaRPr b="1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37" name="Google Shape;637;p29"/>
            <p:cNvSpPr txBox="1"/>
            <p:nvPr/>
          </p:nvSpPr>
          <p:spPr>
            <a:xfrm>
              <a:off x="5037773" y="1603124"/>
              <a:ext cx="38667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3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Handles 3D rendering, animation, input and local sound on the player’s device.</a:t>
              </a:r>
              <a:endParaRPr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638" name="Google Shape;638;p29"/>
          <p:cNvCxnSpPr/>
          <p:nvPr/>
        </p:nvCxnSpPr>
        <p:spPr>
          <a:xfrm>
            <a:off x="4743450" y="2896456"/>
            <a:ext cx="39432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639" name="Google Shape;639;p29" title="Ploxs rendered HTML element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43450" y="2389138"/>
            <a:ext cx="171450" cy="171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0" name="Google Shape;640;p29"/>
          <p:cNvGrpSpPr/>
          <p:nvPr/>
        </p:nvGrpSpPr>
        <p:grpSpPr>
          <a:xfrm>
            <a:off x="5037773" y="2266288"/>
            <a:ext cx="3629100" cy="419422"/>
            <a:chOff x="5037773" y="2266288"/>
            <a:chExt cx="3629100" cy="419422"/>
          </a:xfrm>
        </p:grpSpPr>
        <p:sp>
          <p:nvSpPr>
            <p:cNvPr id="641" name="Google Shape;641;p29"/>
            <p:cNvSpPr txBox="1"/>
            <p:nvPr/>
          </p:nvSpPr>
          <p:spPr>
            <a:xfrm>
              <a:off x="5037773" y="2266288"/>
              <a:ext cx="16725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Dedicated game servers</a:t>
              </a:r>
              <a:endParaRPr b="1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42" name="Google Shape;642;p29"/>
            <p:cNvSpPr txBox="1"/>
            <p:nvPr/>
          </p:nvSpPr>
          <p:spPr>
            <a:xfrm>
              <a:off x="5037773" y="2446310"/>
              <a:ext cx="36291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3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Single source of truth for match state; run game logic to prevent cheating.</a:t>
              </a:r>
              <a:endParaRPr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643" name="Google Shape;643;p29"/>
          <p:cNvCxnSpPr/>
          <p:nvPr/>
        </p:nvCxnSpPr>
        <p:spPr>
          <a:xfrm>
            <a:off x="4743450" y="3739530"/>
            <a:ext cx="39432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644" name="Google Shape;644;p29" title="Ploxs rendered HTML element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43450" y="3232212"/>
            <a:ext cx="171450" cy="171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5" name="Google Shape;645;p29"/>
          <p:cNvGrpSpPr/>
          <p:nvPr/>
        </p:nvGrpSpPr>
        <p:grpSpPr>
          <a:xfrm>
            <a:off x="5037773" y="3109362"/>
            <a:ext cx="3220500" cy="419422"/>
            <a:chOff x="5037773" y="3109362"/>
            <a:chExt cx="3220500" cy="419422"/>
          </a:xfrm>
        </p:grpSpPr>
        <p:sp>
          <p:nvSpPr>
            <p:cNvPr id="646" name="Google Shape;646;p29"/>
            <p:cNvSpPr txBox="1"/>
            <p:nvPr/>
          </p:nvSpPr>
          <p:spPr>
            <a:xfrm>
              <a:off x="5037773" y="3109362"/>
              <a:ext cx="16725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Low-latency networking</a:t>
              </a:r>
              <a:endParaRPr b="1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47" name="Google Shape;647;p29"/>
            <p:cNvSpPr txBox="1"/>
            <p:nvPr/>
          </p:nvSpPr>
          <p:spPr>
            <a:xfrm>
              <a:off x="5037773" y="3289384"/>
              <a:ext cx="32205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3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Optimized UDP protocols process player actions in milliseconds.</a:t>
              </a:r>
              <a:endParaRPr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648" name="Google Shape;648;p29"/>
          <p:cNvCxnSpPr/>
          <p:nvPr/>
        </p:nvCxnSpPr>
        <p:spPr>
          <a:xfrm>
            <a:off x="4743450" y="4582716"/>
            <a:ext cx="39432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649" name="Google Shape;649;p29" title="Ploxs rendered HTML element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43450" y="4075398"/>
            <a:ext cx="171450" cy="171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0" name="Google Shape;650;p29"/>
          <p:cNvGrpSpPr/>
          <p:nvPr/>
        </p:nvGrpSpPr>
        <p:grpSpPr>
          <a:xfrm>
            <a:off x="5037773" y="3952548"/>
            <a:ext cx="3658800" cy="419422"/>
            <a:chOff x="5037773" y="3952548"/>
            <a:chExt cx="3658800" cy="419422"/>
          </a:xfrm>
        </p:grpSpPr>
        <p:sp>
          <p:nvSpPr>
            <p:cNvPr id="651" name="Google Shape;651;p29"/>
            <p:cNvSpPr txBox="1"/>
            <p:nvPr/>
          </p:nvSpPr>
          <p:spPr>
            <a:xfrm>
              <a:off x="5037773" y="3952548"/>
              <a:ext cx="16365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6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Matchmaking and lobby</a:t>
              </a:r>
              <a:endParaRPr b="1"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52" name="Google Shape;652;p29"/>
            <p:cNvSpPr txBox="1"/>
            <p:nvPr/>
          </p:nvSpPr>
          <p:spPr>
            <a:xfrm>
              <a:off x="5037773" y="4132570"/>
              <a:ext cx="36588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3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Groups players of similar skill into balanced lobbies before a match starts.</a:t>
              </a:r>
              <a:endParaRPr sz="7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653" name="Google Shape;653;p29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654" name="Google Shape;654;p29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55" name="Google Shape;655;p29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BLA_02                                                                               18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0" name="Google Shape;660;p30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1" name="Google Shape;661;p30"/>
          <p:cNvSpPr txBox="1"/>
          <p:nvPr/>
        </p:nvSpPr>
        <p:spPr>
          <a:xfrm>
            <a:off x="365760" y="408051"/>
            <a:ext cx="5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9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2" name="Google Shape;662;p30"/>
          <p:cNvSpPr txBox="1"/>
          <p:nvPr/>
        </p:nvSpPr>
        <p:spPr>
          <a:xfrm>
            <a:off x="815816" y="243459"/>
            <a:ext cx="49590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Netflix and Riot Games side by side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663" name="Google Shape;663;p30"/>
          <p:cNvGraphicFramePr/>
          <p:nvPr/>
        </p:nvGraphicFramePr>
        <p:xfrm>
          <a:off x="457200" y="8772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{39EA00E4-D969-412F-AA78-75B5C6E0122F}</a:tableStyleId>
              </a:tblPr>
              <a:tblGrid>
                <a:gridCol w="1645850"/>
                <a:gridCol w="3291800"/>
                <a:gridCol w="3291925"/>
              </a:tblGrid>
              <a:tr h="332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60">
                          <a:solidFill>
                            <a:srgbClr val="5C666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Dimension</a:t>
                      </a:r>
                      <a:endParaRPr b="1" sz="760">
                        <a:solidFill>
                          <a:srgbClr val="5C666B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60">
                          <a:solidFill>
                            <a:srgbClr val="5C666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Netflix (streaming platform)</a:t>
                      </a:r>
                      <a:endParaRPr b="1" sz="760">
                        <a:solidFill>
                          <a:srgbClr val="5C666B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60">
                          <a:solidFill>
                            <a:srgbClr val="5C666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Riot Games · League of Legends</a:t>
                      </a:r>
                      <a:endParaRPr b="1" sz="760">
                        <a:solidFill>
                          <a:srgbClr val="5C666B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6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Process orientation</a:t>
                      </a:r>
                      <a:endParaRPr b="1" sz="86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Fully continuous, microservice-driven DevOps</a:t>
                      </a:r>
                      <a:endParaRPr sz="8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Scheduled bi-weekly incremental release sprint cycles</a:t>
                      </a:r>
                      <a:endParaRPr sz="8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6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Deployment cadence</a:t>
                      </a:r>
                      <a:endParaRPr b="1" sz="86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Continuous: thousands of microservice pushes per day</a:t>
                      </a:r>
                      <a:endParaRPr sz="8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Structured: bi-weekly global game client patches</a:t>
                      </a:r>
                      <a:endParaRPr sz="8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6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Testing focus</a:t>
                      </a:r>
                      <a:endParaRPr b="1" sz="86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Resiliency testing, chaos engineering and automated canary analysis</a:t>
                      </a:r>
                      <a:endParaRPr sz="8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Balance verification, public beta playtesting (PBE) and client-server integration</a:t>
                      </a:r>
                      <a:endParaRPr sz="8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6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Handling changes</a:t>
                      </a:r>
                      <a:endParaRPr b="1" sz="86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Feature toggles and dynamic A/B routing</a:t>
                      </a:r>
                      <a:endParaRPr sz="8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Incremental patches, balance hotfixes and seasonal overhauls</a:t>
                      </a:r>
                      <a:endParaRPr sz="8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6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User feedback loop</a:t>
                      </a:r>
                      <a:endParaRPr b="1" sz="86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Automated telemetry and live analytics</a:t>
                      </a:r>
                      <a:endParaRPr sz="8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Community feedback, win-rate telemetry and PBE testing</a:t>
                      </a:r>
                      <a:endParaRPr sz="8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664" name="Google Shape;664;p30"/>
          <p:cNvGrpSpPr/>
          <p:nvPr/>
        </p:nvGrpSpPr>
        <p:grpSpPr>
          <a:xfrm>
            <a:off x="467916" y="4159940"/>
            <a:ext cx="8387263" cy="443400"/>
            <a:chOff x="467916" y="4159940"/>
            <a:chExt cx="8387263" cy="443400"/>
          </a:xfrm>
        </p:grpSpPr>
        <p:cxnSp>
          <p:nvCxnSpPr>
            <p:cNvPr id="665" name="Google Shape;665;p30"/>
            <p:cNvCxnSpPr/>
            <p:nvPr/>
          </p:nvCxnSpPr>
          <p:spPr>
            <a:xfrm>
              <a:off x="467916" y="4177085"/>
              <a:ext cx="0" cy="409200"/>
            </a:xfrm>
            <a:prstGeom prst="straightConnector1">
              <a:avLst/>
            </a:prstGeom>
            <a:noFill/>
            <a:ln cap="flat" cmpd="sng" w="21600">
              <a:solidFill>
                <a:srgbClr val="C2662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66" name="Google Shape;666;p30"/>
            <p:cNvSpPr txBox="1"/>
            <p:nvPr/>
          </p:nvSpPr>
          <p:spPr>
            <a:xfrm>
              <a:off x="515779" y="4159940"/>
              <a:ext cx="83394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67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Similar:</a:t>
              </a:r>
              <a:r>
                <a:rPr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both ship incrementally, rely on telemetry and automate testing. </a:t>
              </a:r>
              <a:r>
                <a:rPr b="1"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Different:</a:t>
              </a:r>
              <a:r>
                <a:rPr lang="en" sz="92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Netflix deploys continuously, while Riot releases on a fixed two-week cadence.</a:t>
              </a:r>
              <a:endParaRPr sz="92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667" name="Google Shape;667;p30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668" name="Google Shape;668;p30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69" name="Google Shape;669;p30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BLA_02                                                                               19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4" name="Google Shape;674;p31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5" name="Google Shape;675;p31"/>
          <p:cNvSpPr txBox="1"/>
          <p:nvPr/>
        </p:nvSpPr>
        <p:spPr>
          <a:xfrm>
            <a:off x="365760" y="408051"/>
            <a:ext cx="57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9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76" name="Google Shape;676;p31"/>
          <p:cNvSpPr txBox="1"/>
          <p:nvPr/>
        </p:nvSpPr>
        <p:spPr>
          <a:xfrm>
            <a:off x="815816" y="243459"/>
            <a:ext cx="43944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Process profile of each system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677" name="Google Shape;677;p31"/>
          <p:cNvGraphicFramePr/>
          <p:nvPr/>
        </p:nvGraphicFramePr>
        <p:xfrm>
          <a:off x="457200" y="8772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{39EA00E4-D969-412F-AA78-75B5C6E0122F}</a:tableStyleId>
              </a:tblPr>
              <a:tblGrid>
                <a:gridCol w="1481300"/>
                <a:gridCol w="3374075"/>
                <a:gridCol w="3374175"/>
              </a:tblGrid>
              <a:tr h="338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60">
                          <a:solidFill>
                            <a:srgbClr val="5C666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Aspect</a:t>
                      </a:r>
                      <a:endParaRPr b="1" sz="760">
                        <a:solidFill>
                          <a:srgbClr val="5C666B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60">
                          <a:solidFill>
                            <a:srgbClr val="5C666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Netflix</a:t>
                      </a:r>
                      <a:endParaRPr b="1" sz="760">
                        <a:solidFill>
                          <a:srgbClr val="5C666B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60">
                          <a:solidFill>
                            <a:srgbClr val="5C666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Riot Games · League of Legends</a:t>
                      </a:r>
                      <a:endParaRPr b="1" sz="760">
                        <a:solidFill>
                          <a:srgbClr val="5C666B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1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Development approach</a:t>
                      </a:r>
                      <a:endParaRPr b="1" sz="81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Microservices-based DevOps, CI/CD and agile incremental development on AWS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Hybrid agile (Scrum/Kanban) with scheduled patch-release increments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1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Requirements</a:t>
                      </a:r>
                      <a:endParaRPr b="1" sz="81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Data-driven user stories from telemetry, A/B test metrics and feature flags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Balance data analysis, community feedback, backlog and design documents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1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Waterfall traits</a:t>
                      </a:r>
                      <a:endParaRPr b="1" sz="81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Low: upfront planning mainly for cloud foundations and compliance baselines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Moderate: art pipelines, core engine milestones and tournament build freezes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1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Agile traits</a:t>
                      </a:r>
                      <a:endParaRPr b="1" sz="81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High: continuous iteration, short feedback loops, rapid deployment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High: gameplay balancing, seasonal updates and rapid live hotfixes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1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Major advantage</a:t>
                      </a:r>
                      <a:endParaRPr b="1" sz="81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High availability, fault isolation and global rollouts without interruption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Predictable update cadence with flexibility to rebalance as the meta shifts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1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Major challenge</a:t>
                      </a:r>
                      <a:endParaRPr b="1" sz="81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Complex service orchestration, latency and distributed consistency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Creative freedom versus engine stability, regressions and legacy code debt</a:t>
                      </a:r>
                      <a:endParaRPr sz="76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678" name="Google Shape;678;p31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679" name="Google Shape;679;p31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80" name="Google Shape;680;p31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BLA_02                                                                               20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5" name="Google Shape;685;p32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6" name="Google Shape;686;p32"/>
          <p:cNvSpPr txBox="1"/>
          <p:nvPr/>
        </p:nvSpPr>
        <p:spPr>
          <a:xfrm>
            <a:off x="365760" y="408051"/>
            <a:ext cx="636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10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87" name="Google Shape;687;p32"/>
          <p:cNvSpPr txBox="1"/>
          <p:nvPr/>
        </p:nvSpPr>
        <p:spPr>
          <a:xfrm>
            <a:off x="872966" y="243459"/>
            <a:ext cx="58803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Waterfall: advantages and disadvantages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688" name="Google Shape;688;p32"/>
          <p:cNvGrpSpPr/>
          <p:nvPr/>
        </p:nvGrpSpPr>
        <p:grpSpPr>
          <a:xfrm>
            <a:off x="457200" y="811508"/>
            <a:ext cx="3943200" cy="391433"/>
            <a:chOff x="457200" y="811508"/>
            <a:chExt cx="3943200" cy="391433"/>
          </a:xfrm>
        </p:grpSpPr>
        <p:cxnSp>
          <p:nvCxnSpPr>
            <p:cNvPr id="689" name="Google Shape;689;p32"/>
            <p:cNvCxnSpPr/>
            <p:nvPr/>
          </p:nvCxnSpPr>
          <p:spPr>
            <a:xfrm>
              <a:off x="457200" y="1202941"/>
              <a:ext cx="3943200" cy="0"/>
            </a:xfrm>
            <a:prstGeom prst="straightConnector1">
              <a:avLst/>
            </a:prstGeom>
            <a:noFill/>
            <a:ln cap="flat" cmpd="sng" w="29200">
              <a:solidFill>
                <a:srgbClr val="1F6F5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90" name="Google Shape;690;p32"/>
            <p:cNvSpPr txBox="1"/>
            <p:nvPr/>
          </p:nvSpPr>
          <p:spPr>
            <a:xfrm>
              <a:off x="680085" y="811508"/>
              <a:ext cx="15474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20">
                  <a:solidFill>
                    <a:srgbClr val="1F252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Advantages</a:t>
              </a:r>
              <a:endParaRPr b="1" sz="162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pic>
          <p:nvPicPr>
            <p:cNvPr descr="ploxs-render-artifact:v1:{&quot;kind&quot;:&quot;paint-raster&quot;}" id="691" name="Google Shape;691;p32" title="Ploxs rendered HTML element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7200" y="882923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92" name="Google Shape;692;p32"/>
          <p:cNvCxnSpPr/>
          <p:nvPr/>
        </p:nvCxnSpPr>
        <p:spPr>
          <a:xfrm>
            <a:off x="457200" y="2365251"/>
            <a:ext cx="39432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3" name="Google Shape;693;p32"/>
          <p:cNvSpPr txBox="1"/>
          <p:nvPr/>
        </p:nvSpPr>
        <p:spPr>
          <a:xfrm>
            <a:off x="365760" y="1497736"/>
            <a:ext cx="25296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Clear structure and documentation</a:t>
            </a:r>
            <a:endParaRPr b="1" sz="10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94" name="Google Shape;694;p32"/>
          <p:cNvSpPr txBox="1"/>
          <p:nvPr/>
        </p:nvSpPr>
        <p:spPr>
          <a:xfrm>
            <a:off x="365760" y="1688403"/>
            <a:ext cx="39411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Comprehensive upfront specifications make scope, requirements and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deliverables easy to track.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95" name="Google Shape;695;p32"/>
          <p:cNvCxnSpPr/>
          <p:nvPr/>
        </p:nvCxnSpPr>
        <p:spPr>
          <a:xfrm>
            <a:off x="457200" y="3473983"/>
            <a:ext cx="39432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6" name="Google Shape;696;p32"/>
          <p:cNvSpPr txBox="1"/>
          <p:nvPr/>
        </p:nvSpPr>
        <p:spPr>
          <a:xfrm>
            <a:off x="365760" y="2689291"/>
            <a:ext cx="16080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Predictable planning</a:t>
            </a:r>
            <a:endParaRPr b="1" sz="10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97" name="Google Shape;697;p32"/>
          <p:cNvSpPr txBox="1"/>
          <p:nvPr/>
        </p:nvSpPr>
        <p:spPr>
          <a:xfrm>
            <a:off x="365760" y="2895603"/>
            <a:ext cx="4275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Timelines, milestones and budgets can be fixed before development begins.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98" name="Google Shape;698;p32"/>
          <p:cNvCxnSpPr/>
          <p:nvPr/>
        </p:nvCxnSpPr>
        <p:spPr>
          <a:xfrm>
            <a:off x="457200" y="4582716"/>
            <a:ext cx="39432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9" name="Google Shape;699;p32"/>
          <p:cNvSpPr txBox="1"/>
          <p:nvPr/>
        </p:nvSpPr>
        <p:spPr>
          <a:xfrm>
            <a:off x="365760" y="3715201"/>
            <a:ext cx="16152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Ease of management</a:t>
            </a:r>
            <a:endParaRPr b="1" sz="10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0" name="Google Shape;700;p32"/>
          <p:cNvSpPr txBox="1"/>
          <p:nvPr/>
        </p:nvSpPr>
        <p:spPr>
          <a:xfrm>
            <a:off x="365760" y="3905868"/>
            <a:ext cx="42309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Phase gates with formal sign-offs give clear accountability and measurable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progress.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01" name="Google Shape;701;p32"/>
          <p:cNvGrpSpPr/>
          <p:nvPr/>
        </p:nvGrpSpPr>
        <p:grpSpPr>
          <a:xfrm>
            <a:off x="4743450" y="811508"/>
            <a:ext cx="3943200" cy="391433"/>
            <a:chOff x="4743450" y="811508"/>
            <a:chExt cx="3943200" cy="391433"/>
          </a:xfrm>
        </p:grpSpPr>
        <p:cxnSp>
          <p:nvCxnSpPr>
            <p:cNvPr id="702" name="Google Shape;702;p32"/>
            <p:cNvCxnSpPr/>
            <p:nvPr/>
          </p:nvCxnSpPr>
          <p:spPr>
            <a:xfrm>
              <a:off x="4743450" y="1202941"/>
              <a:ext cx="3943200" cy="0"/>
            </a:xfrm>
            <a:prstGeom prst="straightConnector1">
              <a:avLst/>
            </a:prstGeom>
            <a:noFill/>
            <a:ln cap="flat" cmpd="sng" w="29200">
              <a:solidFill>
                <a:srgbClr val="2F3A4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03" name="Google Shape;703;p32"/>
            <p:cNvSpPr txBox="1"/>
            <p:nvPr/>
          </p:nvSpPr>
          <p:spPr>
            <a:xfrm>
              <a:off x="4966335" y="811508"/>
              <a:ext cx="18474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20">
                  <a:solidFill>
                    <a:srgbClr val="1F252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Disadvantages</a:t>
              </a:r>
              <a:endParaRPr b="1" sz="162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pic>
          <p:nvPicPr>
            <p:cNvPr descr="ploxs-render-artifact:v1:{&quot;kind&quot;:&quot;paint-raster&quot;}" id="704" name="Google Shape;704;p32" title="Ploxs rendered HTML element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43450" y="882923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705" name="Google Shape;705;p32"/>
          <p:cNvCxnSpPr/>
          <p:nvPr/>
        </p:nvCxnSpPr>
        <p:spPr>
          <a:xfrm>
            <a:off x="4743450" y="2365251"/>
            <a:ext cx="39432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6" name="Google Shape;706;p32"/>
          <p:cNvSpPr txBox="1"/>
          <p:nvPr/>
        </p:nvSpPr>
        <p:spPr>
          <a:xfrm>
            <a:off x="4652010" y="1497736"/>
            <a:ext cx="15510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Inflexible to change</a:t>
            </a:r>
            <a:endParaRPr b="1" sz="10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7" name="Google Shape;707;p32"/>
          <p:cNvSpPr txBox="1"/>
          <p:nvPr/>
        </p:nvSpPr>
        <p:spPr>
          <a:xfrm>
            <a:off x="4652010" y="1688403"/>
            <a:ext cx="41787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Changing requirements mid-stream is costly once early phases are locked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in.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708" name="Google Shape;708;p32"/>
          <p:cNvCxnSpPr/>
          <p:nvPr/>
        </p:nvCxnSpPr>
        <p:spPr>
          <a:xfrm>
            <a:off x="4743450" y="3473983"/>
            <a:ext cx="39432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9" name="Google Shape;709;p32"/>
          <p:cNvSpPr txBox="1"/>
          <p:nvPr/>
        </p:nvSpPr>
        <p:spPr>
          <a:xfrm>
            <a:off x="4652010" y="2689291"/>
            <a:ext cx="12222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Late validation</a:t>
            </a:r>
            <a:endParaRPr b="1" sz="10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0" name="Google Shape;710;p32"/>
          <p:cNvSpPr txBox="1"/>
          <p:nvPr/>
        </p:nvSpPr>
        <p:spPr>
          <a:xfrm>
            <a:off x="4652010" y="2895603"/>
            <a:ext cx="4275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Working software arrives late, delaying user testing and early bug discovery.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711" name="Google Shape;711;p32"/>
          <p:cNvCxnSpPr/>
          <p:nvPr/>
        </p:nvCxnSpPr>
        <p:spPr>
          <a:xfrm>
            <a:off x="4743450" y="4582716"/>
            <a:ext cx="39432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2" name="Google Shape;712;p32"/>
          <p:cNvSpPr txBox="1"/>
          <p:nvPr/>
        </p:nvSpPr>
        <p:spPr>
          <a:xfrm>
            <a:off x="4652010" y="3715201"/>
            <a:ext cx="1343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 upfront risk</a:t>
            </a:r>
            <a:endParaRPr b="1" sz="10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3" name="Google Shape;713;p32"/>
          <p:cNvSpPr txBox="1"/>
          <p:nvPr/>
        </p:nvSpPr>
        <p:spPr>
          <a:xfrm>
            <a:off x="4652010" y="3905868"/>
            <a:ext cx="40749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Requirement misunderstandings can stay hidden until system testing or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deployment.</a:t>
            </a:r>
            <a:endParaRPr sz="86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14" name="Google Shape;714;p32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715" name="Google Shape;715;p32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16" name="Google Shape;716;p32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BLA_02                                                                               11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1" name="Google Shape;721;p33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2" name="Google Shape;722;p33"/>
          <p:cNvSpPr txBox="1"/>
          <p:nvPr/>
        </p:nvSpPr>
        <p:spPr>
          <a:xfrm>
            <a:off x="365760" y="408051"/>
            <a:ext cx="636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10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3" name="Google Shape;723;p33"/>
          <p:cNvSpPr txBox="1"/>
          <p:nvPr/>
        </p:nvSpPr>
        <p:spPr>
          <a:xfrm>
            <a:off x="872966" y="243459"/>
            <a:ext cx="41046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Choosing the right approach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724" name="Google Shape;724;p33"/>
          <p:cNvGrpSpPr/>
          <p:nvPr/>
        </p:nvGrpSpPr>
        <p:grpSpPr>
          <a:xfrm>
            <a:off x="365760" y="809793"/>
            <a:ext cx="4034640" cy="327291"/>
            <a:chOff x="365760" y="809793"/>
            <a:chExt cx="4034640" cy="327291"/>
          </a:xfrm>
        </p:grpSpPr>
        <p:cxnSp>
          <p:nvCxnSpPr>
            <p:cNvPr id="725" name="Google Shape;725;p33"/>
            <p:cNvCxnSpPr/>
            <p:nvPr/>
          </p:nvCxnSpPr>
          <p:spPr>
            <a:xfrm>
              <a:off x="457200" y="1137084"/>
              <a:ext cx="3943200" cy="0"/>
            </a:xfrm>
            <a:prstGeom prst="straightConnector1">
              <a:avLst/>
            </a:prstGeom>
            <a:noFill/>
            <a:ln cap="flat" cmpd="sng" w="21600">
              <a:solidFill>
                <a:srgbClr val="1F6F5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26" name="Google Shape;726;p33"/>
            <p:cNvSpPr txBox="1"/>
            <p:nvPr/>
          </p:nvSpPr>
          <p:spPr>
            <a:xfrm>
              <a:off x="365760" y="809793"/>
              <a:ext cx="18759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F252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Waterfall fits when</a:t>
              </a:r>
              <a:endParaRPr b="1" sz="130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727" name="Google Shape;727;p33"/>
          <p:cNvSpPr txBox="1"/>
          <p:nvPr/>
        </p:nvSpPr>
        <p:spPr>
          <a:xfrm>
            <a:off x="365760" y="1159230"/>
            <a:ext cx="43125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2565" lvl="0" marL="14351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Clr>
                <a:srgbClr val="1F2528"/>
              </a:buClr>
              <a:buSzPts val="930"/>
              <a:buFont typeface="IBM Plex Sans"/>
              <a:buChar char="●"/>
            </a:pPr>
            <a:r>
              <a:rPr lang="en" sz="9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Requirements are fixed, stable and fully understood.</a:t>
            </a:r>
            <a:endParaRPr sz="9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2565" lvl="0" marL="14351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Clr>
                <a:srgbClr val="1F2528"/>
              </a:buClr>
              <a:buSzPts val="930"/>
              <a:buFont typeface="IBM Plex Sans"/>
              <a:buChar char="●"/>
            </a:pPr>
            <a:r>
              <a:rPr lang="en" sz="9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Regulatory, safety or legal standards apply (aerospace, medical devices, defense).</a:t>
            </a:r>
            <a:endParaRPr sz="9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2565" lvl="0" marL="14351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Clr>
                <a:srgbClr val="1F2528"/>
              </a:buClr>
              <a:buSzPts val="930"/>
              <a:buFont typeface="IBM Plex Sans"/>
              <a:buChar char="●"/>
            </a:pPr>
            <a:r>
              <a:rPr lang="en" sz="9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Hardware and software are co-designed and hardware cannot change after production.</a:t>
            </a:r>
            <a:endParaRPr sz="9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28" name="Google Shape;728;p33"/>
          <p:cNvGrpSpPr/>
          <p:nvPr/>
        </p:nvGrpSpPr>
        <p:grpSpPr>
          <a:xfrm>
            <a:off x="4652010" y="809793"/>
            <a:ext cx="4034640" cy="327291"/>
            <a:chOff x="4652010" y="809793"/>
            <a:chExt cx="4034640" cy="327291"/>
          </a:xfrm>
        </p:grpSpPr>
        <p:cxnSp>
          <p:nvCxnSpPr>
            <p:cNvPr id="729" name="Google Shape;729;p33"/>
            <p:cNvCxnSpPr/>
            <p:nvPr/>
          </p:nvCxnSpPr>
          <p:spPr>
            <a:xfrm>
              <a:off x="4743450" y="1137084"/>
              <a:ext cx="3943200" cy="0"/>
            </a:xfrm>
            <a:prstGeom prst="straightConnector1">
              <a:avLst/>
            </a:prstGeom>
            <a:noFill/>
            <a:ln cap="flat" cmpd="sng" w="21600">
              <a:solidFill>
                <a:srgbClr val="2F3A4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0" name="Google Shape;730;p33"/>
            <p:cNvSpPr txBox="1"/>
            <p:nvPr/>
          </p:nvSpPr>
          <p:spPr>
            <a:xfrm>
              <a:off x="4652010" y="809793"/>
              <a:ext cx="27894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F252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Incremental or agile fits when</a:t>
              </a:r>
              <a:endParaRPr b="1" sz="130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731" name="Google Shape;731;p33"/>
          <p:cNvSpPr txBox="1"/>
          <p:nvPr/>
        </p:nvSpPr>
        <p:spPr>
          <a:xfrm>
            <a:off x="4652010" y="1159230"/>
            <a:ext cx="3955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2565" lvl="0" marL="14351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Clr>
                <a:srgbClr val="1F2528"/>
              </a:buClr>
              <a:buSzPts val="930"/>
              <a:buFont typeface="IBM Plex Sans"/>
              <a:buChar char="●"/>
            </a:pPr>
            <a:r>
              <a:rPr lang="en" sz="9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Requirements evolve or are uncertain.</a:t>
            </a:r>
            <a:endParaRPr sz="9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2565" lvl="0" marL="14351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Clr>
                <a:srgbClr val="1F2528"/>
              </a:buClr>
              <a:buSzPts val="930"/>
              <a:buFont typeface="IBM Plex Sans"/>
              <a:buChar char="●"/>
            </a:pPr>
            <a:r>
              <a:rPr lang="en" sz="9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Speed to market matters for web, mobile or cloud applications.</a:t>
            </a:r>
            <a:endParaRPr sz="9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2565" lvl="0" marL="14351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Clr>
                <a:srgbClr val="1F2528"/>
              </a:buClr>
              <a:buSzPts val="930"/>
              <a:buFont typeface="IBM Plex Sans"/>
              <a:buChar char="●"/>
            </a:pPr>
            <a:r>
              <a:rPr lang="en" sz="9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Rapid user feedback and continuous updates drive success.</a:t>
            </a:r>
            <a:endParaRPr sz="930">
              <a:solidFill>
                <a:srgbClr val="1F2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32" name="Google Shape;732;p33"/>
          <p:cNvSpPr txBox="1"/>
          <p:nvPr/>
        </p:nvSpPr>
        <p:spPr>
          <a:xfrm>
            <a:off x="365760" y="2775137"/>
            <a:ext cx="24288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LARGE PROJECTS COMBINE MODELS</a:t>
            </a:r>
            <a:endParaRPr b="1" sz="65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33" name="Google Shape;733;p33"/>
          <p:cNvGrpSpPr/>
          <p:nvPr/>
        </p:nvGrpSpPr>
        <p:grpSpPr>
          <a:xfrm>
            <a:off x="365760" y="3016672"/>
            <a:ext cx="2863800" cy="624489"/>
            <a:chOff x="365760" y="3016672"/>
            <a:chExt cx="2863800" cy="624489"/>
          </a:xfrm>
        </p:grpSpPr>
        <p:cxnSp>
          <p:nvCxnSpPr>
            <p:cNvPr id="734" name="Google Shape;734;p33"/>
            <p:cNvCxnSpPr/>
            <p:nvPr/>
          </p:nvCxnSpPr>
          <p:spPr>
            <a:xfrm>
              <a:off x="457200" y="3016672"/>
              <a:ext cx="2609700" cy="0"/>
            </a:xfrm>
            <a:prstGeom prst="straightConnector1">
              <a:avLst/>
            </a:prstGeom>
            <a:noFill/>
            <a:ln cap="flat" cmpd="sng" w="7625">
              <a:solidFill>
                <a:srgbClr val="2F3A4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5" name="Google Shape;735;p33"/>
            <p:cNvSpPr txBox="1"/>
            <p:nvPr/>
          </p:nvSpPr>
          <p:spPr>
            <a:xfrm>
              <a:off x="365760" y="3045961"/>
              <a:ext cx="28638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7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0">
                  <a:solidFill>
                    <a:srgbClr val="1F6F5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Risk across subsystems</a:t>
              </a:r>
              <a:endParaRPr b="1" sz="97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9200"/>
                </a:lnSpc>
                <a:spcBef>
                  <a:spcPts val="320"/>
                </a:spcBef>
                <a:spcAft>
                  <a:spcPts val="0"/>
                </a:spcAft>
                <a:buNone/>
              </a:pPr>
              <a:r>
                <a:rPr lang="en" sz="81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Waterfall for hardware or compliance modules; agile for user-facing interfaces.</a:t>
              </a:r>
              <a:endParaRPr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736" name="Google Shape;736;p33"/>
          <p:cNvGrpSpPr/>
          <p:nvPr/>
        </p:nvGrpSpPr>
        <p:grpSpPr>
          <a:xfrm>
            <a:off x="3175598" y="3016672"/>
            <a:ext cx="2792700" cy="624489"/>
            <a:chOff x="3175598" y="3016672"/>
            <a:chExt cx="2792700" cy="624489"/>
          </a:xfrm>
        </p:grpSpPr>
        <p:cxnSp>
          <p:nvCxnSpPr>
            <p:cNvPr id="737" name="Google Shape;737;p33"/>
            <p:cNvCxnSpPr/>
            <p:nvPr/>
          </p:nvCxnSpPr>
          <p:spPr>
            <a:xfrm>
              <a:off x="3267038" y="3016672"/>
              <a:ext cx="2609700" cy="0"/>
            </a:xfrm>
            <a:prstGeom prst="straightConnector1">
              <a:avLst/>
            </a:prstGeom>
            <a:noFill/>
            <a:ln cap="flat" cmpd="sng" w="7625">
              <a:solidFill>
                <a:srgbClr val="2F3A4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8" name="Google Shape;738;p33"/>
            <p:cNvSpPr txBox="1"/>
            <p:nvPr/>
          </p:nvSpPr>
          <p:spPr>
            <a:xfrm>
              <a:off x="3175598" y="3045961"/>
              <a:ext cx="27927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7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0">
                  <a:solidFill>
                    <a:srgbClr val="1F6F5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Scale and coordination</a:t>
              </a:r>
              <a:endParaRPr b="1" sz="97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9200"/>
                </a:lnSpc>
                <a:spcBef>
                  <a:spcPts val="320"/>
                </a:spcBef>
                <a:spcAft>
                  <a:spcPts val="0"/>
                </a:spcAft>
                <a:buNone/>
              </a:pPr>
              <a:r>
                <a:rPr lang="en" sz="81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Upfront architecture gives many teams a baseline; each team iterates in short sprints.</a:t>
              </a:r>
              <a:endParaRPr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739" name="Google Shape;739;p33"/>
          <p:cNvGrpSpPr/>
          <p:nvPr/>
        </p:nvGrpSpPr>
        <p:grpSpPr>
          <a:xfrm>
            <a:off x="5985436" y="3016672"/>
            <a:ext cx="2792700" cy="624489"/>
            <a:chOff x="5985436" y="3016672"/>
            <a:chExt cx="2792700" cy="624489"/>
          </a:xfrm>
        </p:grpSpPr>
        <p:cxnSp>
          <p:nvCxnSpPr>
            <p:cNvPr id="740" name="Google Shape;740;p33"/>
            <p:cNvCxnSpPr/>
            <p:nvPr/>
          </p:nvCxnSpPr>
          <p:spPr>
            <a:xfrm>
              <a:off x="6076876" y="3016672"/>
              <a:ext cx="2610000" cy="0"/>
            </a:xfrm>
            <a:prstGeom prst="straightConnector1">
              <a:avLst/>
            </a:prstGeom>
            <a:noFill/>
            <a:ln cap="flat" cmpd="sng" w="7625">
              <a:solidFill>
                <a:srgbClr val="2F3A4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41" name="Google Shape;741;p33"/>
            <p:cNvSpPr txBox="1"/>
            <p:nvPr/>
          </p:nvSpPr>
          <p:spPr>
            <a:xfrm>
              <a:off x="5985436" y="3045961"/>
              <a:ext cx="27927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7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0">
                  <a:solidFill>
                    <a:srgbClr val="1F6F5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Flexibility with governance</a:t>
              </a:r>
              <a:endParaRPr b="1" sz="970">
                <a:solidFill>
                  <a:srgbClr val="1F6F5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9200"/>
                </a:lnSpc>
                <a:spcBef>
                  <a:spcPts val="320"/>
                </a:spcBef>
                <a:spcAft>
                  <a:spcPts val="0"/>
                </a:spcAft>
                <a:buNone/>
              </a:pPr>
              <a:r>
                <a:rPr lang="en" sz="81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Management tracks predictable milestones while engineers adapt during implementation.</a:t>
              </a:r>
              <a:endParaRPr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742" name="Google Shape;742;p33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743" name="Google Shape;743;p33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44" name="Google Shape;744;p33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BLA_02                                                                               21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9" name="Google Shape;749;p34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" name="Google Shape;750;p34"/>
          <p:cNvSpPr txBox="1"/>
          <p:nvPr/>
        </p:nvSpPr>
        <p:spPr>
          <a:xfrm>
            <a:off x="365760" y="408051"/>
            <a:ext cx="636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11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51" name="Google Shape;751;p34"/>
          <p:cNvSpPr txBox="1"/>
          <p:nvPr/>
        </p:nvSpPr>
        <p:spPr>
          <a:xfrm>
            <a:off x="872966" y="243459"/>
            <a:ext cx="57390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successful companies differ (1 of 2)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752" name="Google Shape;752;p34"/>
          <p:cNvGraphicFramePr/>
          <p:nvPr/>
        </p:nvGraphicFramePr>
        <p:xfrm>
          <a:off x="457200" y="8772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{39EA00E4-D969-412F-AA78-75B5C6E0122F}</a:tableStyleId>
              </a:tblPr>
              <a:tblGrid>
                <a:gridCol w="1481300"/>
                <a:gridCol w="3374075"/>
                <a:gridCol w="3374175"/>
              </a:tblGrid>
              <a:tr h="39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60">
                          <a:solidFill>
                            <a:srgbClr val="5C666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Factor</a:t>
                      </a:r>
                      <a:endParaRPr b="1" sz="760">
                        <a:solidFill>
                          <a:srgbClr val="5C666B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60">
                          <a:solidFill>
                            <a:srgbClr val="5C666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Netflix</a:t>
                      </a:r>
                      <a:endParaRPr b="1" sz="760">
                        <a:solidFill>
                          <a:srgbClr val="5C666B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60">
                          <a:solidFill>
                            <a:srgbClr val="5C666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Riot Games</a:t>
                      </a:r>
                      <a:endParaRPr b="1" sz="760">
                        <a:solidFill>
                          <a:srgbClr val="5C666B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2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2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Type of software</a:t>
                      </a:r>
                      <a:endParaRPr b="1" sz="92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1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Thousands of loosely coupled cloud microservices; a change to one rarely breaks the app, so decoupled DevOps pipelines work.</a:t>
                      </a:r>
                      <a:endParaRPr sz="81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1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 heavy local client plus low-latency multiplayer servers; core engine changes need tight client-server synchronization.</a:t>
                      </a:r>
                      <a:endParaRPr sz="81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6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2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Team size</a:t>
                      </a:r>
                      <a:endParaRPr b="1" sz="92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1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Thousands of engineers in hundreds of autonomous teams, each owning a service end to end.</a:t>
                      </a:r>
                      <a:endParaRPr sz="81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1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Large cross-functional teams of engineers, artists, sound designers, QA and balance designers aligning on each patch.</a:t>
                      </a:r>
                      <a:endParaRPr sz="81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6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2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Safety and security</a:t>
                      </a:r>
                      <a:endParaRPr b="1" sz="92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1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Operational resilience and fault tolerance, with automated chaos testing in live environments.</a:t>
                      </a:r>
                      <a:endParaRPr sz="81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1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Competitive integrity: anti-cheat and server-side validation, since sync bugs can enable exploits.</a:t>
                      </a:r>
                      <a:endParaRPr sz="81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2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Frequency of change</a:t>
                      </a:r>
                      <a:endParaRPr b="1" sz="92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1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Continuous, driven by live telemetry, streaming quality metrics and A/B tests.</a:t>
                      </a:r>
                      <a:endParaRPr sz="81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1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Rapid, but channelled into predictable bi-weekly patches so players and leagues can adapt.</a:t>
                      </a:r>
                      <a:endParaRPr sz="81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753" name="Google Shape;753;p34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754" name="Google Shape;754;p34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55" name="Google Shape;755;p34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BLA_02                                                                               22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0" name="Google Shape;760;p35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1" name="Google Shape;761;p35"/>
          <p:cNvSpPr txBox="1"/>
          <p:nvPr/>
        </p:nvSpPr>
        <p:spPr>
          <a:xfrm>
            <a:off x="365760" y="408051"/>
            <a:ext cx="636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11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2" name="Google Shape;762;p35"/>
          <p:cNvSpPr txBox="1"/>
          <p:nvPr/>
        </p:nvSpPr>
        <p:spPr>
          <a:xfrm>
            <a:off x="872966" y="243459"/>
            <a:ext cx="57909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successful companies differ (2 of 2)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763" name="Google Shape;763;p35"/>
          <p:cNvGraphicFramePr/>
          <p:nvPr/>
        </p:nvGraphicFramePr>
        <p:xfrm>
          <a:off x="457200" y="8772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{39EA00E4-D969-412F-AA78-75B5C6E0122F}</a:tableStyleId>
              </a:tblPr>
              <a:tblGrid>
                <a:gridCol w="1481300"/>
                <a:gridCol w="3374075"/>
                <a:gridCol w="3374175"/>
              </a:tblGrid>
              <a:tr h="386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60">
                          <a:solidFill>
                            <a:srgbClr val="5C666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Factor</a:t>
                      </a:r>
                      <a:endParaRPr b="1" sz="760">
                        <a:solidFill>
                          <a:srgbClr val="5C666B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60">
                          <a:solidFill>
                            <a:srgbClr val="5C666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Netflix</a:t>
                      </a:r>
                      <a:endParaRPr b="1" sz="760">
                        <a:solidFill>
                          <a:srgbClr val="5C666B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60">
                          <a:solidFill>
                            <a:srgbClr val="5C666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Riot Games</a:t>
                      </a:r>
                      <a:endParaRPr b="1" sz="760">
                        <a:solidFill>
                          <a:srgbClr val="5C666B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2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Customer expectations</a:t>
                      </a:r>
                      <a:endParaRPr b="1" sz="92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1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24/7 uninterrupted playback, instant loading and seamless updates with no downtime.</a:t>
                      </a:r>
                      <a:endParaRPr sz="81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1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Predictable patch cadence, polished content, detailed patch notes and notice of maintenance.</a:t>
                      </a:r>
                      <a:endParaRPr sz="81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975">
                      <a:solidFill>
                        <a:srgbClr val="1F25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2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Regulation</a:t>
                      </a:r>
                      <a:endParaRPr b="1" sz="92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1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Digital rights management, content licensing, GDPR and local streaming rules.</a:t>
                      </a:r>
                      <a:endParaRPr sz="81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1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Age ratings (ESRB, PEGI), loot-box disclosure laws and esports governance.</a:t>
                      </a:r>
                      <a:endParaRPr sz="81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2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Cost and risk</a:t>
                      </a:r>
                      <a:endParaRPr b="1" sz="92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1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Downtime or degraded video is the biggest risk, so features ship behind flags with canary deployments.</a:t>
                      </a:r>
                      <a:endParaRPr sz="81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1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 broken patch can crash clients or ruin competitive matches, so the PBE validates changes first.</a:t>
                      </a:r>
                      <a:endParaRPr sz="81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20">
                          <a:solidFill>
                            <a:srgbClr val="1F6F5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Release frequency</a:t>
                      </a:r>
                      <a:endParaRPr b="1" sz="920">
                        <a:solidFill>
                          <a:srgbClr val="1F6F5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1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Hundreds to thousands of production deployments every day.</a:t>
                      </a:r>
                      <a:endParaRPr sz="81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10">
                          <a:solidFill>
                            <a:srgbClr val="1F2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 global patch every two weeks, plus instant hotfixes for urgent bugs.</a:t>
                      </a:r>
                      <a:endParaRPr sz="810">
                        <a:solidFill>
                          <a:srgbClr val="1F2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 anchor="ctr">
                    <a:lnL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1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BC4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764" name="Google Shape;764;p35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765" name="Google Shape;765;p35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6" name="Google Shape;766;p35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BLA_02                                                                               23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1" name="Google Shape;771;p36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2" name="Google Shape;772;p36"/>
          <p:cNvSpPr txBox="1"/>
          <p:nvPr/>
        </p:nvSpPr>
        <p:spPr>
          <a:xfrm>
            <a:off x="365760" y="408051"/>
            <a:ext cx="636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11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73" name="Google Shape;773;p36"/>
          <p:cNvSpPr txBox="1"/>
          <p:nvPr/>
        </p:nvSpPr>
        <p:spPr>
          <a:xfrm>
            <a:off x="872966" y="243459"/>
            <a:ext cx="50184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single process fits every project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74" name="Google Shape;774;p36"/>
          <p:cNvSpPr txBox="1"/>
          <p:nvPr/>
        </p:nvSpPr>
        <p:spPr>
          <a:xfrm>
            <a:off x="365760" y="825519"/>
            <a:ext cx="4602300" cy="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3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252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 process succeeds when it </a:t>
            </a:r>
            <a:r>
              <a:rPr lang="en">
                <a:solidFill>
                  <a:srgbClr val="1F6F5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matches</a:t>
            </a:r>
            <a:r>
              <a:rPr lang="en">
                <a:solidFill>
                  <a:srgbClr val="1F252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the system’s</a:t>
            </a:r>
            <a:endParaRPr>
              <a:solidFill>
                <a:srgbClr val="1F2528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03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252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architecture, user expectations and organizational</a:t>
            </a:r>
            <a:endParaRPr>
              <a:solidFill>
                <a:srgbClr val="1F2528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03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252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goals.</a:t>
            </a:r>
            <a:endParaRPr>
              <a:solidFill>
                <a:srgbClr val="1F2528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cxnSp>
        <p:nvCxnSpPr>
          <p:cNvPr id="775" name="Google Shape;775;p36"/>
          <p:cNvCxnSpPr/>
          <p:nvPr/>
        </p:nvCxnSpPr>
        <p:spPr>
          <a:xfrm>
            <a:off x="457200" y="1705124"/>
            <a:ext cx="45435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776" name="Google Shape;776;p36" title="Ploxs rendered HTML elemen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063204"/>
            <a:ext cx="242888" cy="2428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7" name="Google Shape;777;p36"/>
          <p:cNvGrpSpPr/>
          <p:nvPr/>
        </p:nvGrpSpPr>
        <p:grpSpPr>
          <a:xfrm>
            <a:off x="794385" y="1939841"/>
            <a:ext cx="4149000" cy="491490"/>
            <a:chOff x="794385" y="1939841"/>
            <a:chExt cx="4149000" cy="491490"/>
          </a:xfrm>
        </p:grpSpPr>
        <p:sp>
          <p:nvSpPr>
            <p:cNvPr id="778" name="Google Shape;778;p36"/>
            <p:cNvSpPr txBox="1"/>
            <p:nvPr/>
          </p:nvSpPr>
          <p:spPr>
            <a:xfrm>
              <a:off x="794385" y="1939841"/>
              <a:ext cx="715200" cy="29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3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Netflix</a:t>
              </a:r>
              <a:endParaRPr b="1" sz="10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79" name="Google Shape;779;p36"/>
            <p:cNvSpPr txBox="1"/>
            <p:nvPr/>
          </p:nvSpPr>
          <p:spPr>
            <a:xfrm>
              <a:off x="794385" y="2154131"/>
              <a:ext cx="4149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67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Cloud-native microservices thrive on continuous micro-deployments.</a:t>
              </a:r>
              <a:endParaRPr sz="92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780" name="Google Shape;780;p36"/>
          <p:cNvCxnSpPr/>
          <p:nvPr/>
        </p:nvCxnSpPr>
        <p:spPr>
          <a:xfrm>
            <a:off x="457200" y="2664284"/>
            <a:ext cx="45435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loxs-render-artifact:v1:{&quot;kind&quot;:&quot;paint-raster&quot;}" id="781" name="Google Shape;781;p36" title="Ploxs rendered HTML elemen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3022476"/>
            <a:ext cx="242888" cy="2428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2" name="Google Shape;782;p36"/>
          <p:cNvGrpSpPr/>
          <p:nvPr/>
        </p:nvGrpSpPr>
        <p:grpSpPr>
          <a:xfrm>
            <a:off x="794385" y="2899112"/>
            <a:ext cx="3829500" cy="491491"/>
            <a:chOff x="794385" y="2899112"/>
            <a:chExt cx="3829500" cy="491491"/>
          </a:xfrm>
        </p:grpSpPr>
        <p:sp>
          <p:nvSpPr>
            <p:cNvPr id="783" name="Google Shape;783;p36"/>
            <p:cNvSpPr txBox="1"/>
            <p:nvPr/>
          </p:nvSpPr>
          <p:spPr>
            <a:xfrm>
              <a:off x="794385" y="2899112"/>
              <a:ext cx="1015200" cy="29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3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Riot Games</a:t>
              </a:r>
              <a:endParaRPr b="1" sz="10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84" name="Google Shape;784;p36"/>
            <p:cNvSpPr txBox="1"/>
            <p:nvPr/>
          </p:nvSpPr>
          <p:spPr>
            <a:xfrm>
              <a:off x="794385" y="3113403"/>
              <a:ext cx="3829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67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 competitive game thrives on structured, incremental releases.</a:t>
              </a:r>
              <a:endParaRPr sz="92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785" name="Google Shape;785;p36"/>
          <p:cNvGrpSpPr/>
          <p:nvPr/>
        </p:nvGrpSpPr>
        <p:grpSpPr>
          <a:xfrm>
            <a:off x="457200" y="3623556"/>
            <a:ext cx="4543500" cy="959160"/>
            <a:chOff x="457200" y="3623556"/>
            <a:chExt cx="4543500" cy="959160"/>
          </a:xfrm>
        </p:grpSpPr>
        <p:cxnSp>
          <p:nvCxnSpPr>
            <p:cNvPr id="786" name="Google Shape;786;p36"/>
            <p:cNvCxnSpPr/>
            <p:nvPr/>
          </p:nvCxnSpPr>
          <p:spPr>
            <a:xfrm>
              <a:off x="457200" y="3623556"/>
              <a:ext cx="45435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7" name="Google Shape;787;p36"/>
            <p:cNvCxnSpPr/>
            <p:nvPr/>
          </p:nvCxnSpPr>
          <p:spPr>
            <a:xfrm>
              <a:off x="457200" y="4582716"/>
              <a:ext cx="45435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ploxs-render-artifact:v1:{&quot;kind&quot;:&quot;paint-raster&quot;}" id="788" name="Google Shape;788;p36" title="Ploxs rendered HTML elemen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" y="3981636"/>
            <a:ext cx="242888" cy="2428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9" name="Google Shape;789;p36"/>
          <p:cNvGrpSpPr/>
          <p:nvPr/>
        </p:nvGrpSpPr>
        <p:grpSpPr>
          <a:xfrm>
            <a:off x="794385" y="3770315"/>
            <a:ext cx="4476000" cy="667517"/>
            <a:chOff x="794385" y="3770315"/>
            <a:chExt cx="4476000" cy="667517"/>
          </a:xfrm>
        </p:grpSpPr>
        <p:sp>
          <p:nvSpPr>
            <p:cNvPr id="790" name="Google Shape;790;p36"/>
            <p:cNvSpPr txBox="1"/>
            <p:nvPr/>
          </p:nvSpPr>
          <p:spPr>
            <a:xfrm>
              <a:off x="794385" y="3770315"/>
              <a:ext cx="1058100" cy="29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30">
                  <a:solidFill>
                    <a:srgbClr val="1F252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Your project</a:t>
              </a:r>
              <a:endParaRPr b="1" sz="103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91" name="Google Shape;791;p36"/>
            <p:cNvSpPr txBox="1"/>
            <p:nvPr/>
          </p:nvSpPr>
          <p:spPr>
            <a:xfrm>
              <a:off x="794385" y="3984605"/>
              <a:ext cx="4476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67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Weigh software type, team size, safety, change, customers, regulation, cost</a:t>
              </a:r>
              <a:endParaRPr sz="92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92" name="Google Shape;792;p36"/>
            <p:cNvSpPr txBox="1"/>
            <p:nvPr/>
          </p:nvSpPr>
          <p:spPr>
            <a:xfrm>
              <a:off x="794385" y="4160632"/>
              <a:ext cx="1508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67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and release frequency.</a:t>
              </a:r>
              <a:endParaRPr sz="92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pic>
        <p:nvPicPr>
          <p:cNvPr id="793" name="Google Shape;793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00675" y="1088641"/>
            <a:ext cx="3286126" cy="32861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4" name="Google Shape;794;p36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795" name="Google Shape;795;p36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96" name="Google Shape;796;p36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BLA_02                                                                               24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1" name="Google Shape;801;p37"/>
          <p:cNvCxnSpPr/>
          <p:nvPr/>
        </p:nvCxnSpPr>
        <p:spPr>
          <a:xfrm>
            <a:off x="457200" y="71649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2F3A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2" name="Google Shape;802;p37"/>
          <p:cNvSpPr txBox="1"/>
          <p:nvPr/>
        </p:nvSpPr>
        <p:spPr>
          <a:xfrm>
            <a:off x="365760" y="408051"/>
            <a:ext cx="6795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SOURCES</a:t>
            </a:r>
            <a:endParaRPr b="1" sz="70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03" name="Google Shape;803;p37"/>
          <p:cNvSpPr txBox="1"/>
          <p:nvPr/>
        </p:nvSpPr>
        <p:spPr>
          <a:xfrm>
            <a:off x="915829" y="243459"/>
            <a:ext cx="18189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1F252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References</a:t>
            </a:r>
            <a:endParaRPr b="1" sz="2050">
              <a:solidFill>
                <a:srgbClr val="1F252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804" name="Google Shape;804;p37"/>
          <p:cNvGrpSpPr/>
          <p:nvPr/>
        </p:nvGrpSpPr>
        <p:grpSpPr>
          <a:xfrm>
            <a:off x="457200" y="880802"/>
            <a:ext cx="8229600" cy="740383"/>
            <a:chOff x="457200" y="880802"/>
            <a:chExt cx="8229600" cy="740383"/>
          </a:xfrm>
        </p:grpSpPr>
        <p:cxnSp>
          <p:nvCxnSpPr>
            <p:cNvPr id="805" name="Google Shape;805;p37"/>
            <p:cNvCxnSpPr/>
            <p:nvPr/>
          </p:nvCxnSpPr>
          <p:spPr>
            <a:xfrm>
              <a:off x="457200" y="88080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6" name="Google Shape;806;p37"/>
            <p:cNvCxnSpPr/>
            <p:nvPr/>
          </p:nvCxnSpPr>
          <p:spPr>
            <a:xfrm>
              <a:off x="457200" y="1621185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7" name="Google Shape;807;p37"/>
          <p:cNvSpPr txBox="1"/>
          <p:nvPr/>
        </p:nvSpPr>
        <p:spPr>
          <a:xfrm>
            <a:off x="365760" y="1137781"/>
            <a:ext cx="375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6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  <a:endParaRPr b="1" sz="76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08" name="Google Shape;808;p37"/>
          <p:cNvSpPr txBox="1"/>
          <p:nvPr/>
        </p:nvSpPr>
        <p:spPr>
          <a:xfrm>
            <a:off x="722948" y="1131816"/>
            <a:ext cx="62889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Royce, W. W. (1970). Managing the development of large software systems. </a:t>
            </a: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Proceedings of IEEE WESCON, 26, 328–338.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809" name="Google Shape;809;p37"/>
          <p:cNvCxnSpPr/>
          <p:nvPr/>
        </p:nvCxnSpPr>
        <p:spPr>
          <a:xfrm>
            <a:off x="457200" y="2361567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0" name="Google Shape;810;p37"/>
          <p:cNvSpPr txBox="1"/>
          <p:nvPr/>
        </p:nvSpPr>
        <p:spPr>
          <a:xfrm>
            <a:off x="365760" y="1878163"/>
            <a:ext cx="375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6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 b="1" sz="76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11" name="Google Shape;811;p37"/>
          <p:cNvSpPr txBox="1"/>
          <p:nvPr/>
        </p:nvSpPr>
        <p:spPr>
          <a:xfrm>
            <a:off x="722948" y="1781858"/>
            <a:ext cx="78417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Sommerville, I. (2015). Software Engineering (10th ed.). Pearson. </a:t>
            </a: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Foundational textbook for the Waterfall model, incremental development, interleaved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specification and development, and plan-driven versus agile methods.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812" name="Google Shape;812;p37"/>
          <p:cNvCxnSpPr/>
          <p:nvPr/>
        </p:nvCxnSpPr>
        <p:spPr>
          <a:xfrm>
            <a:off x="457200" y="3101950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3" name="Google Shape;813;p37"/>
          <p:cNvSpPr txBox="1"/>
          <p:nvPr/>
        </p:nvSpPr>
        <p:spPr>
          <a:xfrm>
            <a:off x="365760" y="2618546"/>
            <a:ext cx="375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6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  <a:endParaRPr b="1" sz="76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14" name="Google Shape;814;p37"/>
          <p:cNvSpPr txBox="1"/>
          <p:nvPr/>
        </p:nvSpPr>
        <p:spPr>
          <a:xfrm>
            <a:off x="722948" y="2522241"/>
            <a:ext cx="75222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Mokhtar, R., and Khayyat, M. (2022). A comparative case study of waterfall and agile management. </a:t>
            </a: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SAR Journal – Science and Research, 52–62.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doi.org/10.18421/sar51-07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815" name="Google Shape;815;p37"/>
          <p:cNvCxnSpPr/>
          <p:nvPr/>
        </p:nvCxnSpPr>
        <p:spPr>
          <a:xfrm>
            <a:off x="457200" y="3842333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6" name="Google Shape;816;p37"/>
          <p:cNvSpPr txBox="1"/>
          <p:nvPr/>
        </p:nvSpPr>
        <p:spPr>
          <a:xfrm>
            <a:off x="365760" y="3358929"/>
            <a:ext cx="375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6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04</a:t>
            </a:r>
            <a:endParaRPr b="1" sz="76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17" name="Google Shape;817;p37"/>
          <p:cNvSpPr txBox="1"/>
          <p:nvPr/>
        </p:nvSpPr>
        <p:spPr>
          <a:xfrm>
            <a:off x="722948" y="3352964"/>
            <a:ext cx="60213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F5 NGINX Developer Blog (2015). Adopting microservices at Netflix: Lessons for architectural design. </a:t>
            </a: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F5 Networks.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818" name="Google Shape;818;p37"/>
          <p:cNvCxnSpPr/>
          <p:nvPr/>
        </p:nvCxnSpPr>
        <p:spPr>
          <a:xfrm>
            <a:off x="457200" y="4582716"/>
            <a:ext cx="8229600" cy="0"/>
          </a:xfrm>
          <a:prstGeom prst="straightConnector1">
            <a:avLst/>
          </a:prstGeom>
          <a:noFill/>
          <a:ln cap="flat" cmpd="sng" w="7625">
            <a:solidFill>
              <a:srgbClr val="CBC4B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9" name="Google Shape;819;p37"/>
          <p:cNvSpPr txBox="1"/>
          <p:nvPr/>
        </p:nvSpPr>
        <p:spPr>
          <a:xfrm>
            <a:off x="365760" y="4099311"/>
            <a:ext cx="375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60">
                <a:solidFill>
                  <a:srgbClr val="C2662D"/>
                </a:solidFill>
                <a:latin typeface="IBM Plex Sans"/>
                <a:ea typeface="IBM Plex Sans"/>
                <a:cs typeface="IBM Plex Sans"/>
                <a:sym typeface="IBM Plex Sans"/>
              </a:rPr>
              <a:t>05</a:t>
            </a:r>
            <a:endParaRPr b="1" sz="760">
              <a:solidFill>
                <a:srgbClr val="C2662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20" name="Google Shape;820;p37"/>
          <p:cNvSpPr txBox="1"/>
          <p:nvPr/>
        </p:nvSpPr>
        <p:spPr>
          <a:xfrm>
            <a:off x="722948" y="4003006"/>
            <a:ext cx="8086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1F2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Riot Games Engineering (2016–2021). The Riot Games API: Deep Dive, and Keeping Legacy Software Alive: A Case Study. </a:t>
            </a: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Riot Games official news and tech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articles.</a:t>
            </a:r>
            <a:endParaRPr sz="810">
              <a:solidFill>
                <a:srgbClr val="5C66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821" name="Google Shape;821;p37"/>
          <p:cNvGrpSpPr/>
          <p:nvPr/>
        </p:nvGrpSpPr>
        <p:grpSpPr>
          <a:xfrm>
            <a:off x="186881" y="4747022"/>
            <a:ext cx="8770200" cy="217230"/>
            <a:chOff x="186881" y="4747022"/>
            <a:chExt cx="8770200" cy="217230"/>
          </a:xfrm>
        </p:grpSpPr>
        <p:cxnSp>
          <p:nvCxnSpPr>
            <p:cNvPr id="822" name="Google Shape;822;p37"/>
            <p:cNvCxnSpPr/>
            <p:nvPr/>
          </p:nvCxnSpPr>
          <p:spPr>
            <a:xfrm>
              <a:off x="457200" y="4747022"/>
              <a:ext cx="8229600" cy="0"/>
            </a:xfrm>
            <a:prstGeom prst="straightConnector1">
              <a:avLst/>
            </a:prstGeom>
            <a:noFill/>
            <a:ln cap="flat" cmpd="sng" w="7625">
              <a:solidFill>
                <a:srgbClr val="CBC4B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3" name="Google Shape;823;p37"/>
            <p:cNvSpPr txBox="1"/>
            <p:nvPr/>
          </p:nvSpPr>
          <p:spPr>
            <a:xfrm>
              <a:off x="186881" y="4758452"/>
              <a:ext cx="87702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5C666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Process Models · BLA_02                                                                               25 / 25</a:t>
              </a:r>
              <a:endParaRPr sz="650">
                <a:solidFill>
                  <a:srgbClr val="5C666B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